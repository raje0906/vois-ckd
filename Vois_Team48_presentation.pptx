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7"/>
  </p:sldMasterIdLst>
  <p:notesMasterIdLst>
    <p:notesMasterId r:id="rId3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9144000"/>
  <p:custDataLst>
    <p:custData r:id="rId1"/>
    <p:custData r:id="rId2"/>
    <p:custData r:id="rId3"/>
    <p:custData r:id="rId4"/>
    <p:custData r:id="rId5"/>
    <p:custData r:id="rId6"/>
  </p:custDataLst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slideMaster" Target="slideMasters/slideMaster1.xml"/><Relationship Id="rId8" Type="http://schemas.openxmlformats.org/officeDocument/2006/relationships/theme" Target="theme/theme1.xml"/><Relationship Id="rId9" Type="http://schemas.openxmlformats.org/officeDocument/2006/relationships/theme" Target="theme/theme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 /><Relationship Id="rId37" Type="http://schemas.openxmlformats.org/officeDocument/2006/relationships/tableStyles" Target="tableStyles.xml" /><Relationship Id="rId3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1726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861438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9EC30E-1A71-4188-9BE7-E2A64929A436}" type="datetimeFigureOut">
              <a:rPr lang="en-US"/>
              <a:t>1/1/2026</a:t>
            </a:fld>
            <a:endParaRPr lang="en-US"/>
          </a:p>
        </p:txBody>
      </p:sp>
      <p:sp>
        <p:nvSpPr>
          <p:cNvPr id="19830794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337749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792402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448942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530193B-564F-4854-8A52-728F3FB19C8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092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6481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8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A8F9F5-2FDE-F67F-3DA3-3F444D7285A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387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78426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366466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530193B-564F-4854-8A52-728F3FB19C85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700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3831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781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975350-6877-B587-242D-3621D29132A2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455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22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562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1EF8D8-AC79-17C2-000F-8713D3E17C1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641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339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712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CF2F5C-B8CA-33A0-C934-7F81A3A6A12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996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7936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12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85C55B-BFF2-51EA-917D-C3E0278611B0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052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424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313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407918-4CAD-7A7E-E361-52FA1C55565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80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73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88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10B267-1241-3EA9-9E3A-4398D33BC7B5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966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499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0414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24524A-FEC9-A2C0-C5CF-B6C6FF0267B3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51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7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16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5A5AA-BA46-7229-E767-CF00318F7AB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61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7698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25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3631A7-D507-5BFB-B246-D5D0BA754E8B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73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647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890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0415D8-DFC2-0DD8-CB74-F4FEE2F69D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351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64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112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2C1371-CBFA-CCF9-A1DE-12D25A7299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391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7942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88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6651C7-BFE8-4E17-637C-5BE02EEFE9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818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199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5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E607D3-CB1D-9FDB-B241-2FAB4CBA63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894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156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837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7B8CB6-14FA-340D-FBBB-DCBC9EFF5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166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461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65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CFB241-9640-E373-49A9-5A5B255F01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084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5813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216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1D7EFE-7E96-A0A8-D583-98E25E0349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5796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8627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79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009CED-0318-22E3-7B74-E16C9A3A446B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800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11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05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0E83F7-9A35-6793-C382-035CE95EF45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227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632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838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B3571C-9AAC-1187-4975-C15FD1F5B541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10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2174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411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7616FD-713D-CDE9-64ED-0BDD3FCD4914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974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5116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90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0C84B6-0B3F-DD94-A79B-BCFA0DAAA669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966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1840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879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14F1E1-4D5E-071A-953E-35D404C0A7EE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14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6837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324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C743E5-8940-5D79-B83E-A62101800EDD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25304806" name="Group 15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sp>
          <p:nvSpPr>
            <p:cNvPr id="15" name="Freeform 14"/>
            <p:cNvSpPr/>
            <p:nvPr/>
          </p:nvSpPr>
          <p:spPr bwMode="auto">
            <a:xfrm>
              <a:off x="0" y="-7862"/>
              <a:ext cx="863599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fill="norm" stroke="1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 stroke="1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2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 stroke="1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4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 stroke="1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5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 stroke="1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6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 stroke="1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</p:grpSp>
      <p:sp>
        <p:nvSpPr>
          <p:cNvPr id="176256113" name="Title 1"/>
          <p:cNvSpPr>
            <a:spLocks noGrp="1"/>
          </p:cNvSpPr>
          <p:nvPr>
            <p:ph type="ctrTitle"/>
          </p:nvPr>
        </p:nvSpPr>
        <p:spPr bwMode="auto"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4018667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4058527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14158167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56691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296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907351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160074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11259205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79101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493832" name="Title 1"/>
          <p:cNvSpPr>
            <a:spLocks noGrp="1"/>
          </p:cNvSpPr>
          <p:nvPr>
            <p:ph type="title"/>
          </p:nvPr>
        </p:nvSpPr>
        <p:spPr bwMode="auto"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756326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195608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8302346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64722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018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032687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77334" y="2160589"/>
            <a:ext cx="4184035" cy="38807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87908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089970" y="2160589"/>
            <a:ext cx="4184034" cy="388077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853814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B712588-04B1-427B-82EE-E8DB90309F08}" type="datetimeFigureOut">
              <a:rPr lang="en-US"/>
              <a:t>1/1/2026</a:t>
            </a:fld>
            <a:endParaRPr lang="en-US"/>
          </a:p>
        </p:txBody>
      </p:sp>
      <p:sp>
        <p:nvSpPr>
          <p:cNvPr id="18223836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16208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163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023423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47929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8535871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469538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7455517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11906155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63985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227359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86908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22364992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63531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50820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180801857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336049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7364" name="Title 1"/>
          <p:cNvSpPr>
            <a:spLocks noGrp="1"/>
          </p:cNvSpPr>
          <p:nvPr>
            <p:ph type="title"/>
          </p:nvPr>
        </p:nvSpPr>
        <p:spPr bwMode="auto"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24056822" name="Content Placeholder 2"/>
          <p:cNvSpPr>
            <a:spLocks noGrp="1"/>
          </p:cNvSpPr>
          <p:nvPr>
            <p:ph idx="1"/>
          </p:nvPr>
        </p:nvSpPr>
        <p:spPr bwMode="auto"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126807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12400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2A54C80-263E-416B-A8E0-580EDEADCBDC}" type="datetimeFigureOut">
              <a:rPr lang="en-US"/>
              <a:t>1/1/2026</a:t>
            </a:fld>
            <a:endParaRPr lang="en-US"/>
          </a:p>
        </p:txBody>
      </p:sp>
      <p:sp>
        <p:nvSpPr>
          <p:cNvPr id="1399635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40349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465630" name="Title 1"/>
          <p:cNvSpPr>
            <a:spLocks noGrp="1"/>
          </p:cNvSpPr>
          <p:nvPr>
            <p:ph type="title"/>
          </p:nvPr>
        </p:nvSpPr>
        <p:spPr bwMode="auto"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283399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32132294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98251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68925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12994251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725100" name="Title 1"/>
          <p:cNvSpPr>
            <a:spLocks noGrp="1"/>
          </p:cNvSpPr>
          <p:nvPr>
            <p:ph type="title"/>
          </p:nvPr>
        </p:nvSpPr>
        <p:spPr bwMode="auto"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445729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52683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5870484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37482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2925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93404526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63332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94446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21451561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77608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931187928" name="TextBox 23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2126291314" name="TextBox 24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567869" name="Title 1"/>
          <p:cNvSpPr>
            <a:spLocks noGrp="1"/>
          </p:cNvSpPr>
          <p:nvPr>
            <p:ph type="title"/>
          </p:nvPr>
        </p:nvSpPr>
        <p:spPr bwMode="auto"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639717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31855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12537775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7954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63753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0702938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14466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98295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18608846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2581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1947789726" name="TextBox 23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1115806873" name="TextBox 24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  <p:hf dt="0" ftr="0" hdr="0" sldNum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030455" name="Title 1"/>
          <p:cNvSpPr>
            <a:spLocks noGrp="1"/>
          </p:cNvSpPr>
          <p:nvPr>
            <p:ph type="title"/>
          </p:nvPr>
        </p:nvSpPr>
        <p:spPr bwMode="auto"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38468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98879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078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6493719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1941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108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7007267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57282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C6B4A9-1611-4792-9094-5F34BCA07E0B}" type="datetimeFigureOut">
              <a:rPr lang="en-US"/>
              <a:t>1/1/2026</a:t>
            </a:fld>
            <a:endParaRPr lang="en-US"/>
          </a:p>
        </p:txBody>
      </p:sp>
      <p:sp>
        <p:nvSpPr>
          <p:cNvPr id="5326362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20665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34895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967673" y="609599"/>
            <a:ext cx="1304743" cy="5251451"/>
          </a:xfrm>
        </p:spPr>
        <p:txBody>
          <a:bodyPr vert="eaVert" anchor="ctr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93625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623643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982358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49506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dt="0" ftr="0" hdr="0" sldNum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Quo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741873" name="Text Placeholder 10"/>
          <p:cNvSpPr>
            <a:spLocks noGrp="1"/>
          </p:cNvSpPr>
          <p:nvPr>
            <p:ph type="body" sz="quarter" idx="11"/>
          </p:nvPr>
        </p:nvSpPr>
        <p:spPr bwMode="auto"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</p:txBody>
      </p:sp>
      <p:sp>
        <p:nvSpPr>
          <p:cNvPr id="972350986" name="Hexagon 14"/>
          <p:cNvSpPr/>
          <p:nvPr userDrawn="1"/>
        </p:nvSpPr>
        <p:spPr bwMode="auto">
          <a:xfrm>
            <a:off x="740309" y="1382809"/>
            <a:ext cx="1229566" cy="1059971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44803065" name="Hexagon 15"/>
          <p:cNvSpPr/>
          <p:nvPr userDrawn="1"/>
        </p:nvSpPr>
        <p:spPr bwMode="auto">
          <a:xfrm>
            <a:off x="3755031" y="1194620"/>
            <a:ext cx="1666162" cy="143634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7422487" name="Hexagon 16"/>
          <p:cNvSpPr/>
          <p:nvPr userDrawn="1"/>
        </p:nvSpPr>
        <p:spPr bwMode="auto">
          <a:xfrm>
            <a:off x="3804994" y="5233183"/>
            <a:ext cx="718261" cy="619191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1121356" name="Hexagon 17"/>
          <p:cNvSpPr/>
          <p:nvPr userDrawn="1"/>
        </p:nvSpPr>
        <p:spPr bwMode="auto">
          <a:xfrm>
            <a:off x="1837838" y="1101306"/>
            <a:ext cx="651613" cy="561736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9731177" name="Picture Placeholder 18"/>
          <p:cNvSpPr>
            <a:spLocks noGrp="1"/>
          </p:cNvSpPr>
          <p:nvPr>
            <p:ph type="pic" sz="quarter" idx="12"/>
          </p:nvPr>
        </p:nvSpPr>
        <p:spPr bwMode="auto"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 fill="norm" stroke="1" extrusionOk="0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023093505" name="Title 1"/>
          <p:cNvSpPr>
            <a:spLocks noGrp="1"/>
          </p:cNvSpPr>
          <p:nvPr>
            <p:ph type="title"/>
          </p:nvPr>
        </p:nvSpPr>
        <p:spPr bwMode="auto"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Introdu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172184" name="Oval 9"/>
          <p:cNvSpPr/>
          <p:nvPr userDrawn="1"/>
        </p:nvSpPr>
        <p:spPr bwMode="auto"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accent5"/>
              </a:solidFill>
            </a:endParaRPr>
          </a:p>
        </p:txBody>
      </p:sp>
      <p:sp>
        <p:nvSpPr>
          <p:cNvPr id="1431030641" name="Oval 13"/>
          <p:cNvSpPr/>
          <p:nvPr userDrawn="1"/>
        </p:nvSpPr>
        <p:spPr bwMode="auto"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accent5"/>
              </a:solidFill>
            </a:endParaRPr>
          </a:p>
        </p:txBody>
      </p:sp>
      <p:sp>
        <p:nvSpPr>
          <p:cNvPr id="1891199737" name="Oval 15"/>
          <p:cNvSpPr/>
          <p:nvPr userDrawn="1"/>
        </p:nvSpPr>
        <p:spPr bwMode="auto"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accent5"/>
              </a:solidFill>
            </a:endParaRPr>
          </a:p>
        </p:txBody>
      </p:sp>
      <p:sp>
        <p:nvSpPr>
          <p:cNvPr id="682594304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 fill="norm" stroke="1" extrusionOk="0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155051949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2000"/>
            </a:lvl2pPr>
            <a:lvl3pPr>
              <a:buClr>
                <a:schemeClr val="accent4"/>
              </a:buClr>
              <a:buFont typeface="Wingdings"/>
              <a:buChar char="§"/>
              <a:defRPr sz="1800"/>
            </a:lvl3pPr>
            <a:lvl4pPr>
              <a:buClr>
                <a:schemeClr val="accent4"/>
              </a:buClr>
              <a:buFont typeface="Wingdings"/>
              <a:buChar char="§"/>
              <a:defRPr sz="1800"/>
            </a:lvl4pPr>
            <a:lvl5pPr>
              <a:buClr>
                <a:schemeClr val="accent4"/>
              </a:buClr>
              <a:buFont typeface="Wingdings"/>
              <a:buChar char="§"/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7253785" name="Title 1"/>
          <p:cNvSpPr>
            <a:spLocks noGrp="1"/>
          </p:cNvSpPr>
          <p:nvPr>
            <p:ph type="title"/>
          </p:nvPr>
        </p:nvSpPr>
        <p:spPr bwMode="auto"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369161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74317999" name="Rectangle 18"/>
          <p:cNvSpPr/>
          <p:nvPr userDrawn="1"/>
        </p:nvSpPr>
        <p:spPr bwMode="auto"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61257383" name="Rectangle 20"/>
          <p:cNvSpPr/>
          <p:nvPr userDrawn="1"/>
        </p:nvSpPr>
        <p:spPr bwMode="auto"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2936498" name="Rectangle 22"/>
          <p:cNvSpPr/>
          <p:nvPr userDrawn="1"/>
        </p:nvSpPr>
        <p:spPr bwMode="auto"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5819944" name="Picture Placeholder 10"/>
          <p:cNvSpPr>
            <a:spLocks noGrp="1"/>
          </p:cNvSpPr>
          <p:nvPr>
            <p:ph type="pic" sz="quarter" idx="13"/>
          </p:nvPr>
        </p:nvSpPr>
        <p:spPr bwMode="auto"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 fill="norm" stroke="1" extrusionOk="0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407625212" name="Title 1"/>
          <p:cNvSpPr>
            <a:spLocks noGrp="1"/>
          </p:cNvSpPr>
          <p:nvPr>
            <p:ph type="title"/>
          </p:nvPr>
        </p:nvSpPr>
        <p:spPr bwMode="auto"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ea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910591" name="Picture Placeholder 38"/>
          <p:cNvSpPr>
            <a:spLocks noGrp="1"/>
          </p:cNvSpPr>
          <p:nvPr>
            <p:ph type="pic" sz="quarter" idx="22"/>
          </p:nvPr>
        </p:nvSpPr>
        <p:spPr bwMode="auto">
          <a:xfrm>
            <a:off x="5353508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fill="norm" stroke="1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653570444" name="Picture Placeholder 37"/>
          <p:cNvSpPr>
            <a:spLocks noGrp="1"/>
          </p:cNvSpPr>
          <p:nvPr>
            <p:ph type="pic" sz="quarter" idx="21"/>
          </p:nvPr>
        </p:nvSpPr>
        <p:spPr bwMode="auto">
          <a:xfrm>
            <a:off x="3115921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fill="norm" stroke="1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99358740" name="Picture Placeholder 39"/>
          <p:cNvSpPr>
            <a:spLocks noGrp="1"/>
          </p:cNvSpPr>
          <p:nvPr>
            <p:ph type="pic" sz="quarter" idx="23"/>
          </p:nvPr>
        </p:nvSpPr>
        <p:spPr bwMode="auto">
          <a:xfrm>
            <a:off x="7602465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fill="norm" stroke="1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860572713" name="Picture Placeholder 40"/>
          <p:cNvSpPr>
            <a:spLocks noGrp="1"/>
          </p:cNvSpPr>
          <p:nvPr>
            <p:ph type="pic" sz="quarter" idx="24"/>
          </p:nvPr>
        </p:nvSpPr>
        <p:spPr bwMode="auto">
          <a:xfrm>
            <a:off x="9840051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fill="norm" stroke="1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2141903856" name="Title 1"/>
          <p:cNvSpPr>
            <a:spLocks noGrp="1"/>
          </p:cNvSpPr>
          <p:nvPr>
            <p:ph type="title"/>
          </p:nvPr>
        </p:nvSpPr>
        <p:spPr bwMode="auto"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>
              <a:defRPr/>
            </a:pPr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/>
          </a:p>
        </p:txBody>
      </p:sp>
      <p:sp>
        <p:nvSpPr>
          <p:cNvPr id="1333918742" name="Hexagon 8"/>
          <p:cNvSpPr/>
          <p:nvPr userDrawn="1"/>
        </p:nvSpPr>
        <p:spPr bwMode="auto">
          <a:xfrm>
            <a:off x="546669" y="3467555"/>
            <a:ext cx="458268" cy="39505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2834119" name="Hexagon 9"/>
          <p:cNvSpPr/>
          <p:nvPr userDrawn="1"/>
        </p:nvSpPr>
        <p:spPr bwMode="auto">
          <a:xfrm>
            <a:off x="11113337" y="2394722"/>
            <a:ext cx="358391" cy="30895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79715753" name="Hexagon 10"/>
          <p:cNvSpPr/>
          <p:nvPr userDrawn="1"/>
        </p:nvSpPr>
        <p:spPr bwMode="auto">
          <a:xfrm>
            <a:off x="10882649" y="2202202"/>
            <a:ext cx="230688" cy="19886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43609326" name="Text Placeholder 22"/>
          <p:cNvSpPr>
            <a:spLocks noGrp="1"/>
          </p:cNvSpPr>
          <p:nvPr>
            <p:ph type="body" sz="quarter" idx="10"/>
          </p:nvPr>
        </p:nvSpPr>
        <p:spPr bwMode="auto"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9294921" name="Text Placeholder 22"/>
          <p:cNvSpPr>
            <a:spLocks noGrp="1"/>
          </p:cNvSpPr>
          <p:nvPr>
            <p:ph type="body" sz="quarter" idx="11"/>
          </p:nvPr>
        </p:nvSpPr>
        <p:spPr bwMode="auto"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235883" name="Text Placeholder 22"/>
          <p:cNvSpPr>
            <a:spLocks noGrp="1"/>
          </p:cNvSpPr>
          <p:nvPr>
            <p:ph type="body" sz="quarter" idx="12"/>
          </p:nvPr>
        </p:nvSpPr>
        <p:spPr bwMode="auto"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8609557" name="Text Placeholder 22"/>
          <p:cNvSpPr>
            <a:spLocks noGrp="1"/>
          </p:cNvSpPr>
          <p:nvPr>
            <p:ph type="body" sz="quarter" idx="13"/>
          </p:nvPr>
        </p:nvSpPr>
        <p:spPr bwMode="auto"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7133836" name="Text Placeholder 22"/>
          <p:cNvSpPr>
            <a:spLocks noGrp="1"/>
          </p:cNvSpPr>
          <p:nvPr>
            <p:ph type="body" sz="quarter" idx="14"/>
          </p:nvPr>
        </p:nvSpPr>
        <p:spPr bwMode="auto"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2171092" name="Text Placeholder 22"/>
          <p:cNvSpPr>
            <a:spLocks noGrp="1"/>
          </p:cNvSpPr>
          <p:nvPr>
            <p:ph type="body" sz="quarter" idx="15"/>
          </p:nvPr>
        </p:nvSpPr>
        <p:spPr bwMode="auto"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5040393" name="Text Placeholder 22"/>
          <p:cNvSpPr>
            <a:spLocks noGrp="1"/>
          </p:cNvSpPr>
          <p:nvPr>
            <p:ph type="body" sz="quarter" idx="16"/>
          </p:nvPr>
        </p:nvSpPr>
        <p:spPr bwMode="auto"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5836550" name="Text Placeholder 22"/>
          <p:cNvSpPr>
            <a:spLocks noGrp="1"/>
          </p:cNvSpPr>
          <p:nvPr>
            <p:ph type="body" sz="quarter" idx="17"/>
          </p:nvPr>
        </p:nvSpPr>
        <p:spPr bwMode="auto"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9694456" name="Text Placeholder 22"/>
          <p:cNvSpPr>
            <a:spLocks noGrp="1"/>
          </p:cNvSpPr>
          <p:nvPr>
            <p:ph type="body" sz="quarter" idx="18"/>
          </p:nvPr>
        </p:nvSpPr>
        <p:spPr bwMode="auto"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26615455" name="Text Placeholder 22"/>
          <p:cNvSpPr>
            <a:spLocks noGrp="1"/>
          </p:cNvSpPr>
          <p:nvPr>
            <p:ph type="body" sz="quarter" idx="19"/>
          </p:nvPr>
        </p:nvSpPr>
        <p:spPr bwMode="auto"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4315006" name="Picture Placeholder 36"/>
          <p:cNvSpPr>
            <a:spLocks noGrp="1"/>
          </p:cNvSpPr>
          <p:nvPr>
            <p:ph type="pic" sz="quarter" idx="20"/>
          </p:nvPr>
        </p:nvSpPr>
        <p:spPr bwMode="auto">
          <a:xfrm>
            <a:off x="878337" y="2555550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 fill="norm" stroke="1" extrusionOk="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Custom Layout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1278" name="Picture Placeholder 21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875164258" name="Rectangle 1" descr="Tall office building looking up"/>
          <p:cNvSpPr/>
          <p:nvPr userDrawn="1"/>
        </p:nvSpPr>
        <p:spPr bwMode="auto"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2780820" name="Text Placeholder 23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>
                <a:solidFill>
                  <a:schemeClr val="accent4"/>
                </a:solidFill>
                <a:latin typeface="Calibri"/>
                <a:ea typeface="+mn-ea"/>
                <a:cs typeface="Calibri"/>
              </a:defRPr>
            </a:lvl1pPr>
            <a:lvl2pPr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text</a:t>
            </a:r>
            <a:endParaRPr/>
          </a:p>
        </p:txBody>
      </p:sp>
      <p:sp>
        <p:nvSpPr>
          <p:cNvPr id="727674714" name="Title 1"/>
          <p:cNvSpPr>
            <a:spLocks noGrp="1"/>
          </p:cNvSpPr>
          <p:nvPr>
            <p:ph type="title"/>
          </p:nvPr>
        </p:nvSpPr>
        <p:spPr bwMode="auto"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png"/><Relationship Id="rId24" Type="http://schemas.openxmlformats.org/officeDocument/2006/relationships/image" Target="../media/image2.png"/><Relationship Id="rId2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5373115" name="Group 43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cxnSp>
          <p:nvCxnSpPr>
            <p:cNvPr id="20" name="Straight Connector 19"/>
            <p:cNvCxnSpPr/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 stroke="1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3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 stroke="1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5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 stroke="1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6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 stroke="1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7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 stroke="1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 bwMode="auto"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</p:grpSp>
      <p:sp>
        <p:nvSpPr>
          <p:cNvPr id="2060229592" name="Title Placeholder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129805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727716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1BEF0D-F0BB-DE4B-95CE-6DB70DBA9567}" type="datetimeFigureOut">
              <a:rPr lang="en-US"/>
              <a:t>1/1/2026</a:t>
            </a:fld>
            <a:endParaRPr lang="en-US"/>
          </a:p>
        </p:txBody>
      </p:sp>
      <p:sp>
        <p:nvSpPr>
          <p:cNvPr id="36773164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77334" y="6041362"/>
            <a:ext cx="62976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248360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1545016489" name="Date Placeholder 3"/>
          <p:cNvSpPr txBox="1"/>
          <p:nvPr userDrawn="1"/>
        </p:nvSpPr>
        <p:spPr bwMode="auto"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7BD5F78-1C10-49D6-8616-C9F20406C112}" type="datetime1">
              <a:rPr lang="en-US" sz="1100">
                <a:solidFill>
                  <a:schemeClr val="accent2"/>
                </a:solidFill>
              </a:rPr>
              <a:t>1/1/2026</a:t>
            </a:fld>
            <a:endParaRPr lang="en-US" sz="1100">
              <a:solidFill>
                <a:schemeClr val="accent2"/>
              </a:solidFill>
            </a:endParaRPr>
          </a:p>
        </p:txBody>
      </p:sp>
      <p:sp>
        <p:nvSpPr>
          <p:cNvPr id="1213358380" name="Footer Placeholder 4"/>
          <p:cNvSpPr txBox="1"/>
          <p:nvPr userDrawn="1"/>
        </p:nvSpPr>
        <p:spPr bwMode="auto"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100" b="1">
                <a:solidFill>
                  <a:schemeClr val="accent2"/>
                </a:solidFill>
              </a:rPr>
              <a:t>Annual Review</a:t>
            </a:r>
            <a:endParaRPr/>
          </a:p>
        </p:txBody>
      </p:sp>
      <p:sp>
        <p:nvSpPr>
          <p:cNvPr id="325994417" name="Slide Number Placeholder 5"/>
          <p:cNvSpPr txBox="1"/>
          <p:nvPr userDrawn="1"/>
        </p:nvSpPr>
        <p:spPr bwMode="auto"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2C18C1E5-FB55-42F5-BD6D-9CC153FCDBE6}" type="slidenum">
              <a:rPr lang="en-US" sz="1100">
                <a:solidFill>
                  <a:schemeClr val="accent4"/>
                </a:solidFill>
              </a:rPr>
              <a:t>‹#›</a:t>
            </a:fld>
            <a:endParaRPr lang="en-US" sz="1100">
              <a:solidFill>
                <a:schemeClr val="accent4"/>
              </a:solidFill>
            </a:endParaRPr>
          </a:p>
        </p:txBody>
      </p:sp>
      <p:pic>
        <p:nvPicPr>
          <p:cNvPr id="157210806" name="Image 4"/>
          <p:cNvPicPr/>
          <p:nvPr userDrawn="1"/>
        </p:nvPicPr>
        <p:blipFill rotWithShape="1">
          <a:blip r:embed="rId23"/>
          <a:stretch/>
        </p:blipFill>
        <p:spPr bwMode="auto">
          <a:xfrm>
            <a:off x="986712" y="85129"/>
            <a:ext cx="917626" cy="408729"/>
          </a:xfrm>
          <a:prstGeom prst="rect">
            <a:avLst/>
          </a:prstGeom>
        </p:spPr>
      </p:pic>
      <p:pic>
        <p:nvPicPr>
          <p:cNvPr id="529136377" name="Picture 7" descr="A black and white letter o&#10;&#10;AI-generated content may be incorrect."/>
          <p:cNvPicPr>
            <a:picLocks noChangeAspect="1"/>
          </p:cNvPicPr>
          <p:nvPr userDrawn="1"/>
        </p:nvPicPr>
        <p:blipFill rotWithShape="1">
          <a:blip r:embed="rId24"/>
          <a:stretch/>
        </p:blipFill>
        <p:spPr bwMode="auto">
          <a:xfrm>
            <a:off x="4142841" y="145953"/>
            <a:ext cx="979574" cy="294875"/>
          </a:xfrm>
          <a:prstGeom prst="rect">
            <a:avLst/>
          </a:prstGeom>
        </p:spPr>
      </p:pic>
      <p:pic>
        <p:nvPicPr>
          <p:cNvPr id="1223548008" name="Image 6"/>
          <p:cNvPicPr/>
          <p:nvPr userDrawn="1"/>
        </p:nvPicPr>
        <p:blipFill rotWithShape="1">
          <a:blip r:embed="rId25"/>
          <a:stretch/>
        </p:blipFill>
        <p:spPr bwMode="auto">
          <a:xfrm>
            <a:off x="8025689" y="85129"/>
            <a:ext cx="779649" cy="4596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1"/>
  <p:txStyles>
    <p:titleStyle>
      <a:lvl1pPr algn="l" defTabSz="457200" rtl="0">
        <a:spcBef>
          <a:spcPts val="0"/>
        </a:spcBef>
        <a:buNone/>
        <a:defRPr sz="3600">
          <a:solidFill>
            <a:schemeClr val="accent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4.jp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19.png"/><Relationship Id="rId6" Type="http://schemas.openxmlformats.org/officeDocument/2006/relationships/image" Target="../media/image9.jpg"/><Relationship Id="rId7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2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hyperlink" Target="abc" TargetMode="External"/><Relationship Id="rId5" Type="http://schemas.openxmlformats.org/officeDocument/2006/relationships/image" Target="../media/image41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4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hyperlink" Target="https://www.uptodate.com/contents/epidemiology-of-chronic-kidney-disease" TargetMode="External"/><Relationship Id="rId5" Type="http://schemas.openxmlformats.org/officeDocument/2006/relationships/hyperlink" Target="https://pmc.ncbi.nlm.nih.gov/articles/PMC9073222/" TargetMode="External"/><Relationship Id="rId6" Type="http://schemas.openxmlformats.org/officeDocument/2006/relationships/hyperlink" Target="https://link.springer.com/article/10.1186/1471-2369-14-114" TargetMode="External"/><Relationship Id="rId7" Type="http://schemas.openxmlformats.org/officeDocument/2006/relationships/hyperlink" Target="https://pmc.ncbi.nlm.nih.gov/articles/PMC4446915/" TargetMode="External"/><Relationship Id="rId8" Type="http://schemas.openxmlformats.org/officeDocument/2006/relationships/hyperlink" Target="https://academic.oup.com/ckj/article/15/1/60/6352495" TargetMode="External"/><Relationship Id="rId9" Type="http://schemas.openxmlformats.org/officeDocument/2006/relationships/hyperlink" Target="https://www.thelancet.com/journals/lancet/article/PIIS0140-6736%2825%2901853-7/fulltext" TargetMode="Externa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40103" name="Text Placeholder 1"/>
          <p:cNvSpPr txBox="1"/>
          <p:nvPr/>
        </p:nvSpPr>
        <p:spPr bwMode="auto">
          <a:xfrm>
            <a:off x="1280766" y="325695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400"/>
          </a:p>
        </p:txBody>
      </p:sp>
      <p:pic>
        <p:nvPicPr>
          <p:cNvPr id="1040534362" name="Picture 5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979315369" name="Graphic 2"/>
          <p:cNvSpPr/>
          <p:nvPr/>
        </p:nvSpPr>
        <p:spPr bwMode="auto">
          <a:xfrm>
            <a:off x="583808" y="607786"/>
            <a:ext cx="8957141" cy="6159826"/>
          </a:xfrm>
          <a:custGeom>
            <a:avLst/>
            <a:gdLst/>
            <a:ahLst/>
            <a:cxnLst/>
            <a:rect l="l" t="t" r="r" b="b"/>
            <a:pathLst>
              <a:path w="6858000" h="6998334" fill="norm" stroke="1" extrusionOk="0">
                <a:moveTo>
                  <a:pt x="6858000" y="6322314"/>
                </a:moveTo>
                <a:lnTo>
                  <a:pt x="6853301" y="6323711"/>
                </a:lnTo>
                <a:lnTo>
                  <a:pt x="6853301" y="0"/>
                </a:lnTo>
                <a:lnTo>
                  <a:pt x="0" y="0"/>
                </a:lnTo>
                <a:lnTo>
                  <a:pt x="0" y="6590538"/>
                </a:lnTo>
                <a:lnTo>
                  <a:pt x="30784" y="6599034"/>
                </a:lnTo>
                <a:lnTo>
                  <a:pt x="97955" y="6616713"/>
                </a:lnTo>
                <a:lnTo>
                  <a:pt x="172415" y="6635191"/>
                </a:lnTo>
                <a:lnTo>
                  <a:pt x="212318" y="6644703"/>
                </a:lnTo>
                <a:lnTo>
                  <a:pt x="254000" y="6654355"/>
                </a:lnTo>
                <a:lnTo>
                  <a:pt x="297395" y="6664134"/>
                </a:lnTo>
                <a:lnTo>
                  <a:pt x="342531" y="6674040"/>
                </a:lnTo>
                <a:lnTo>
                  <a:pt x="389343" y="6684048"/>
                </a:lnTo>
                <a:lnTo>
                  <a:pt x="437845" y="6694132"/>
                </a:lnTo>
                <a:lnTo>
                  <a:pt x="487984" y="6704279"/>
                </a:lnTo>
                <a:lnTo>
                  <a:pt x="539762" y="6714464"/>
                </a:lnTo>
                <a:lnTo>
                  <a:pt x="593140" y="6724688"/>
                </a:lnTo>
                <a:lnTo>
                  <a:pt x="648119" y="6734924"/>
                </a:lnTo>
                <a:lnTo>
                  <a:pt x="704646" y="6745160"/>
                </a:lnTo>
                <a:lnTo>
                  <a:pt x="762736" y="6755358"/>
                </a:lnTo>
                <a:lnTo>
                  <a:pt x="822337" y="6765518"/>
                </a:lnTo>
                <a:lnTo>
                  <a:pt x="883437" y="6775628"/>
                </a:lnTo>
                <a:lnTo>
                  <a:pt x="946035" y="6785661"/>
                </a:lnTo>
                <a:lnTo>
                  <a:pt x="1010069" y="6795605"/>
                </a:lnTo>
                <a:lnTo>
                  <a:pt x="1213446" y="6826390"/>
                </a:lnTo>
                <a:lnTo>
                  <a:pt x="1244701" y="6830873"/>
                </a:lnTo>
                <a:lnTo>
                  <a:pt x="1210386" y="6827494"/>
                </a:lnTo>
                <a:lnTo>
                  <a:pt x="1080643" y="6813804"/>
                </a:lnTo>
                <a:lnTo>
                  <a:pt x="1161859" y="6826758"/>
                </a:lnTo>
                <a:lnTo>
                  <a:pt x="1245108" y="6839471"/>
                </a:lnTo>
                <a:lnTo>
                  <a:pt x="1330375" y="6851891"/>
                </a:lnTo>
                <a:lnTo>
                  <a:pt x="1417612" y="6864007"/>
                </a:lnTo>
                <a:lnTo>
                  <a:pt x="1506791" y="6875793"/>
                </a:lnTo>
                <a:lnTo>
                  <a:pt x="1597888" y="6887210"/>
                </a:lnTo>
                <a:lnTo>
                  <a:pt x="1690865" y="6898246"/>
                </a:lnTo>
                <a:lnTo>
                  <a:pt x="1785708" y="6908851"/>
                </a:lnTo>
                <a:lnTo>
                  <a:pt x="1882355" y="6919011"/>
                </a:lnTo>
                <a:lnTo>
                  <a:pt x="1980806" y="6928688"/>
                </a:lnTo>
                <a:lnTo>
                  <a:pt x="2081022" y="6937870"/>
                </a:lnTo>
                <a:lnTo>
                  <a:pt x="2182952" y="6946506"/>
                </a:lnTo>
                <a:lnTo>
                  <a:pt x="2286597" y="6954583"/>
                </a:lnTo>
                <a:lnTo>
                  <a:pt x="2391905" y="6962064"/>
                </a:lnTo>
                <a:lnTo>
                  <a:pt x="2498839" y="6968934"/>
                </a:lnTo>
                <a:lnTo>
                  <a:pt x="2607399" y="6975157"/>
                </a:lnTo>
                <a:lnTo>
                  <a:pt x="2717520" y="6980695"/>
                </a:lnTo>
                <a:lnTo>
                  <a:pt x="2829191" y="6985521"/>
                </a:lnTo>
                <a:lnTo>
                  <a:pt x="2942374" y="6989623"/>
                </a:lnTo>
                <a:lnTo>
                  <a:pt x="3057042" y="6992963"/>
                </a:lnTo>
                <a:lnTo>
                  <a:pt x="3173171" y="6995503"/>
                </a:lnTo>
                <a:lnTo>
                  <a:pt x="3290722" y="6997230"/>
                </a:lnTo>
                <a:lnTo>
                  <a:pt x="3409658" y="6998106"/>
                </a:lnTo>
                <a:lnTo>
                  <a:pt x="3515334" y="6998144"/>
                </a:lnTo>
                <a:lnTo>
                  <a:pt x="3607282" y="6997586"/>
                </a:lnTo>
                <a:lnTo>
                  <a:pt x="3699980" y="6996468"/>
                </a:lnTo>
                <a:lnTo>
                  <a:pt x="3793401" y="6994753"/>
                </a:lnTo>
                <a:lnTo>
                  <a:pt x="3887533" y="6992442"/>
                </a:lnTo>
                <a:lnTo>
                  <a:pt x="3982364" y="6989521"/>
                </a:lnTo>
                <a:lnTo>
                  <a:pt x="4077868" y="6985965"/>
                </a:lnTo>
                <a:lnTo>
                  <a:pt x="4174045" y="6981774"/>
                </a:lnTo>
                <a:lnTo>
                  <a:pt x="4270857" y="6976923"/>
                </a:lnTo>
                <a:lnTo>
                  <a:pt x="4368317" y="6971385"/>
                </a:lnTo>
                <a:lnTo>
                  <a:pt x="4466387" y="6965175"/>
                </a:lnTo>
                <a:lnTo>
                  <a:pt x="4565066" y="6958266"/>
                </a:lnTo>
                <a:lnTo>
                  <a:pt x="4664329" y="6950634"/>
                </a:lnTo>
                <a:lnTo>
                  <a:pt x="4764163" y="6942264"/>
                </a:lnTo>
                <a:lnTo>
                  <a:pt x="4864570" y="6933158"/>
                </a:lnTo>
                <a:lnTo>
                  <a:pt x="4965509" y="6923291"/>
                </a:lnTo>
                <a:lnTo>
                  <a:pt x="5066970" y="6912635"/>
                </a:lnTo>
                <a:lnTo>
                  <a:pt x="5168951" y="6901205"/>
                </a:lnTo>
                <a:lnTo>
                  <a:pt x="5271440" y="6888962"/>
                </a:lnTo>
                <a:lnTo>
                  <a:pt x="5374398" y="6875907"/>
                </a:lnTo>
                <a:lnTo>
                  <a:pt x="5477827" y="6862000"/>
                </a:lnTo>
                <a:lnTo>
                  <a:pt x="5581701" y="6847268"/>
                </a:lnTo>
                <a:lnTo>
                  <a:pt x="5686018" y="6831660"/>
                </a:lnTo>
                <a:lnTo>
                  <a:pt x="5790755" y="6815175"/>
                </a:lnTo>
                <a:lnTo>
                  <a:pt x="5895899" y="6797789"/>
                </a:lnTo>
                <a:lnTo>
                  <a:pt x="6001436" y="6779514"/>
                </a:lnTo>
                <a:lnTo>
                  <a:pt x="6107354" y="6760299"/>
                </a:lnTo>
                <a:lnTo>
                  <a:pt x="6213627" y="6740157"/>
                </a:lnTo>
                <a:lnTo>
                  <a:pt x="6320244" y="6719062"/>
                </a:lnTo>
                <a:lnTo>
                  <a:pt x="6427190" y="6697002"/>
                </a:lnTo>
                <a:lnTo>
                  <a:pt x="6534455" y="6673964"/>
                </a:lnTo>
                <a:lnTo>
                  <a:pt x="6642024" y="6649923"/>
                </a:lnTo>
                <a:lnTo>
                  <a:pt x="6749872" y="6624866"/>
                </a:lnTo>
                <a:lnTo>
                  <a:pt x="6858000" y="6598793"/>
                </a:lnTo>
                <a:lnTo>
                  <a:pt x="6858000" y="63223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prstTxWarp prst="textNoShape"/>
            <a:noAutofit/>
          </a:bodyPr>
          <a:lstStyle/>
          <a:p>
            <a:pPr>
              <a:defRPr/>
            </a:pPr>
            <a:r>
              <a:rPr lang="en-US"/>
              <a:t> </a:t>
            </a:r>
            <a:endParaRPr lang="en-IN"/>
          </a:p>
        </p:txBody>
      </p:sp>
      <p:sp>
        <p:nvSpPr>
          <p:cNvPr id="997805787" name="Title 3"/>
          <p:cNvSpPr txBox="1"/>
          <p:nvPr/>
        </p:nvSpPr>
        <p:spPr bwMode="auto">
          <a:xfrm>
            <a:off x="1314151" y="2560218"/>
            <a:ext cx="7776685" cy="1188161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60000" lnSpcReduction="20000"/>
          </a:bodyPr>
          <a:lstStyle>
            <a:lvl1pPr algn="l" defTabSz="457200" rtl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GB" sz="4800" b="1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Project Title</a:t>
            </a:r>
            <a:r>
              <a:rPr lang="en-GB" sz="4800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 – </a:t>
            </a:r>
            <a:r>
              <a:rPr lang="en-GB" sz="4800" i="0" u="none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Agentic AI </a:t>
            </a:r>
            <a:r>
              <a:rPr sz="4800" i="0" u="none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System for Chronic Kidney Disease Management in India</a:t>
            </a:r>
            <a:endParaRPr lang="en-US" sz="4800">
              <a:solidFill>
                <a:schemeClr val="bg1"/>
              </a:solidFill>
              <a:latin typeface="Times New Roman"/>
              <a:cs typeface="Algerian"/>
            </a:endParaRPr>
          </a:p>
          <a:p>
            <a:pPr>
              <a:defRPr/>
            </a:pPr>
            <a:r>
              <a:rPr lang="en-GB" sz="3200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    </a:t>
            </a:r>
            <a:endParaRPr lang="en-IN" sz="320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1465957368" name="Title 3"/>
          <p:cNvSpPr txBox="1"/>
          <p:nvPr/>
        </p:nvSpPr>
        <p:spPr bwMode="auto">
          <a:xfrm>
            <a:off x="1413387" y="4384213"/>
            <a:ext cx="7677449" cy="1604946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 lnSpcReduction="12000"/>
          </a:bodyPr>
          <a:lstStyle>
            <a:lvl1pPr algn="l" defTabSz="457200" rtl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GB" sz="2600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Team Number – 48</a:t>
            </a:r>
            <a:endParaRPr sz="2600">
              <a:solidFill>
                <a:schemeClr val="bg1"/>
              </a:solidFill>
              <a:latin typeface="Times New Roman"/>
              <a:cs typeface="Algerian"/>
            </a:endParaRPr>
          </a:p>
          <a:p>
            <a:pPr>
              <a:defRPr/>
            </a:pPr>
            <a:r>
              <a:rPr lang="en-GB" sz="2600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Name of Team Members - Aditya Raje , Nida Pathan</a:t>
            </a:r>
            <a:endParaRPr sz="2600">
              <a:solidFill>
                <a:schemeClr val="bg1"/>
              </a:solidFill>
              <a:latin typeface="Times New Roman"/>
              <a:cs typeface="Algerian"/>
            </a:endParaRPr>
          </a:p>
          <a:p>
            <a:pPr>
              <a:defRPr/>
            </a:pPr>
            <a:r>
              <a:rPr lang="en-GB" sz="2600">
                <a:solidFill>
                  <a:schemeClr val="bg1"/>
                </a:solidFill>
                <a:latin typeface="Times New Roman"/>
                <a:ea typeface="Algerian"/>
                <a:cs typeface="Algerian"/>
              </a:rPr>
              <a:t>College Name – MESWCOE, Pune.</a:t>
            </a:r>
            <a:endParaRPr>
              <a:solidFill>
                <a:schemeClr val="bg1"/>
              </a:solidFill>
              <a:latin typeface="Times New Roman"/>
            </a:endParaRPr>
          </a:p>
          <a:p>
            <a:pPr>
              <a:defRPr/>
            </a:pPr>
            <a:r>
              <a:rPr lang="en-GB" sz="3200">
                <a:solidFill>
                  <a:schemeClr val="bg1"/>
                </a:solidFill>
                <a:latin typeface="Times New Roman"/>
              </a:rPr>
              <a:t> </a:t>
            </a:r>
            <a:endParaRPr lang="en-IN" sz="320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1789931967" name="Title 3"/>
          <p:cNvSpPr>
            <a:spLocks noGrp="1"/>
          </p:cNvSpPr>
          <p:nvPr>
            <p:ph type="title"/>
          </p:nvPr>
        </p:nvSpPr>
        <p:spPr bwMode="auto">
          <a:xfrm>
            <a:off x="1413387" y="997266"/>
            <a:ext cx="6937302" cy="74344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b="1">
                <a:solidFill>
                  <a:schemeClr val="bg1"/>
                </a:solidFill>
                <a:latin typeface="Algerian"/>
              </a:rPr>
              <a:t>VOIS Innovation Marathon 2025-2026</a:t>
            </a:r>
            <a:endParaRPr lang="en-IN" b="1"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899319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24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70240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70240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7024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978057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659573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0240103" grpId="0"/>
      <p:bldP spid="997805787" grpId="0"/>
      <p:bldP spid="1465957368" grpId="0"/>
      <p:bldP spid="178993196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1338732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412029907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1">
            <a:off x="97925" y="4897528"/>
            <a:ext cx="1124950" cy="1960472"/>
          </a:xfrm>
          <a:prstGeom prst="rect">
            <a:avLst/>
          </a:prstGeom>
        </p:spPr>
      </p:pic>
      <p:sp>
        <p:nvSpPr>
          <p:cNvPr id="1075412378" name="Text Placeholder 6"/>
          <p:cNvSpPr>
            <a:spLocks noGrp="1"/>
          </p:cNvSpPr>
          <p:nvPr>
            <p:ph type="body" sz="quarter" idx="12"/>
          </p:nvPr>
        </p:nvSpPr>
        <p:spPr bwMode="auto"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  <a:defRPr/>
            </a:pPr>
            <a:r>
              <a:rPr lang="en-US"/>
              <a:t>Problem statement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Project Overview 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Need of project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Your solution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Technical Flow Diagram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Result </a:t>
            </a:r>
            <a:endParaRPr/>
          </a:p>
          <a:p>
            <a:pPr lvl="1">
              <a:lnSpc>
                <a:spcPct val="150000"/>
              </a:lnSpc>
              <a:defRPr/>
            </a:pPr>
            <a:r>
              <a:rPr lang="en-US"/>
              <a:t>Future Scope</a:t>
            </a:r>
            <a:endParaRPr lang="en-IN"/>
          </a:p>
        </p:txBody>
      </p:sp>
      <p:sp>
        <p:nvSpPr>
          <p:cNvPr id="1644624316" name="Title 8"/>
          <p:cNvSpPr>
            <a:spLocks noGrp="1"/>
          </p:cNvSpPr>
          <p:nvPr>
            <p:ph type="title"/>
          </p:nvPr>
        </p:nvSpPr>
        <p:spPr bwMode="auto">
          <a:xfrm>
            <a:off x="660400" y="430567"/>
            <a:ext cx="4275138" cy="847817"/>
          </a:xfrm>
        </p:spPr>
        <p:txBody>
          <a:bodyPr/>
          <a:lstStyle/>
          <a:p>
            <a:pPr>
              <a:defRPr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075412378" grpId="0" build="p"/>
      <p:bldP spid="16446243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2974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IN"/>
              <a:t> </a:t>
            </a:r>
            <a:endParaRPr/>
          </a:p>
        </p:txBody>
      </p:sp>
      <p:sp>
        <p:nvSpPr>
          <p:cNvPr id="594730754" name="Title 3"/>
          <p:cNvSpPr>
            <a:spLocks noGrp="1"/>
          </p:cNvSpPr>
          <p:nvPr>
            <p:ph type="title"/>
          </p:nvPr>
        </p:nvSpPr>
        <p:spPr bwMode="auto">
          <a:xfrm>
            <a:off x="754601" y="681385"/>
            <a:ext cx="6995604" cy="79011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PROBLEM  STATEMENT</a:t>
            </a:r>
            <a:endParaRPr lang="en-IN"/>
          </a:p>
        </p:txBody>
      </p:sp>
      <p:pic>
        <p:nvPicPr>
          <p:cNvPr id="1666252910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95683" y="2930834"/>
            <a:ext cx="2760758" cy="3264408"/>
          </a:xfrm>
          <a:prstGeom prst="rect">
            <a:avLst/>
          </a:prstGeom>
        </p:spPr>
      </p:pic>
      <p:pic>
        <p:nvPicPr>
          <p:cNvPr id="1144519424" name="Picture 5"/>
          <p:cNvPicPr>
            <a:picLocks noChangeAspect="1"/>
          </p:cNvPicPr>
          <p:nvPr/>
        </p:nvPicPr>
        <p:blipFill rotWithShape="1">
          <a:blip r:embed="rId4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008600537" name="TextBox 1058416456"/>
          <p:cNvSpPr txBox="1"/>
          <p:nvPr/>
        </p:nvSpPr>
        <p:spPr bwMode="auto">
          <a:xfrm>
            <a:off x="585612" y="1947332"/>
            <a:ext cx="7173232" cy="3657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India has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138 million people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living with chronic kidney disease—the second-highest burden globally—yet only 10% of end-stage renal disease patients can access life-saving treatment. With prevalence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surging 47%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just six years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(from 11.12% to 16.38%)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over 50% of patients diagnosed only when kidneys have lost 85-90% function (stage 5), and only 1,850 nephrologists serving 1.3 billion people, India's healthcare system cannot scale to meet this crisis.</a:t>
            </a:r>
            <a:endParaRPr sz="1800"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Build an AI-powered Multi-Agent System using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IBM Granite </a:t>
            </a:r>
            <a:r>
              <a:rPr lang="en-GB"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3-8b-instruct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lang="en-GB"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IBM watson Studio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lang="en-GB"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IBM watsonx Orchestrate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IBM watsonx.ai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Langflow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that enables early CKD detection, personalizes treatment plans, multi lingual support and prevents 70,000+ annual progressions to kidney failure while making care accessible to rural populations where prevalence is 44% higher than urban areas.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5947307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943754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IN"/>
              <a:t> </a:t>
            </a:r>
            <a:endParaRPr/>
          </a:p>
        </p:txBody>
      </p:sp>
      <p:sp>
        <p:nvSpPr>
          <p:cNvPr id="1451071528" name="Title 3"/>
          <p:cNvSpPr>
            <a:spLocks noGrp="1"/>
          </p:cNvSpPr>
          <p:nvPr>
            <p:ph type="title"/>
          </p:nvPr>
        </p:nvSpPr>
        <p:spPr bwMode="auto">
          <a:xfrm>
            <a:off x="574135" y="476956"/>
            <a:ext cx="6237550" cy="65960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PROJECT  OVERVIEW</a:t>
            </a:r>
            <a:endParaRPr lang="en-IN"/>
          </a:p>
        </p:txBody>
      </p:sp>
      <p:pic>
        <p:nvPicPr>
          <p:cNvPr id="1474833721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00415" y="3254714"/>
            <a:ext cx="3810000" cy="3810000"/>
          </a:xfrm>
          <a:prstGeom prst="rect">
            <a:avLst/>
          </a:prstGeom>
        </p:spPr>
      </p:pic>
      <p:pic>
        <p:nvPicPr>
          <p:cNvPr id="1196862741" name="Picture 5"/>
          <p:cNvPicPr>
            <a:picLocks noChangeAspect="1"/>
          </p:cNvPicPr>
          <p:nvPr/>
        </p:nvPicPr>
        <p:blipFill rotWithShape="1">
          <a:blip r:embed="rId4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689557176" name="TextBox 2"/>
          <p:cNvSpPr txBox="1"/>
          <p:nvPr/>
        </p:nvSpPr>
        <p:spPr bwMode="auto">
          <a:xfrm flipH="0" flipV="0">
            <a:off x="245149" y="1280711"/>
            <a:ext cx="8401644" cy="4755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Vision:</a:t>
            </a:r>
            <a:r>
              <a:rPr lang="en-US">
                <a:latin typeface="Times New Roman"/>
                <a:cs typeface="Times New Roman"/>
              </a:rPr>
              <a:t> Transform CKD care from reactive to proactive using IBM's enterprise AI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>
              <a:latin typeface="Times New Roman"/>
            </a:endParaRPr>
          </a:p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Mission:</a:t>
            </a:r>
            <a:r>
              <a:rPr lang="en-US">
                <a:latin typeface="Times New Roman"/>
                <a:cs typeface="Times New Roman"/>
              </a:rPr>
              <a:t> Detect early, treat precisely, prevent progression—making world-class nephrology accessible to every Indian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>
              <a:latin typeface="Times New Roman"/>
            </a:endParaRPr>
          </a:p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Core Innovation:</a:t>
            </a:r>
            <a:r>
              <a:rPr lang="en-US">
                <a:latin typeface="Times New Roman"/>
                <a:cs typeface="Times New Roman"/>
              </a:rPr>
              <a:t> 6 specialized AI agents working as a coordinated care team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>
              <a:latin typeface="Times New Roman"/>
            </a:endParaRPr>
          </a:p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Technology Foundation: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latin typeface="Times New Roman"/>
                <a:cs typeface="Times New Roman"/>
              </a:rPr>
              <a:t>IBM Granite </a:t>
            </a:r>
            <a:r>
              <a:rPr lang="en-GB" b="1">
                <a:latin typeface="Times New Roman"/>
                <a:cs typeface="Times New Roman"/>
              </a:rPr>
              <a:t>3-8b-instruct</a:t>
            </a:r>
            <a:r>
              <a:rPr lang="en-US" b="1">
                <a:latin typeface="Times New Roman"/>
                <a:cs typeface="Times New Roman"/>
              </a:rPr>
              <a:t>:</a:t>
            </a:r>
            <a:r>
              <a:rPr lang="en-US">
                <a:latin typeface="Times New Roman"/>
                <a:cs typeface="Times New Roman"/>
              </a:rPr>
              <a:t> Medical reasoning in 15+ Indian languages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latin typeface="Times New Roman"/>
                <a:cs typeface="Times New Roman"/>
              </a:rPr>
              <a:t>IBM watsonx.ai</a:t>
            </a:r>
            <a:r>
              <a:rPr lang="en-US">
                <a:latin typeface="Times New Roman"/>
                <a:cs typeface="Times New Roman"/>
              </a:rPr>
              <a:t>: Model training &amp; deployment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latin typeface="Times New Roman"/>
                <a:cs typeface="Times New Roman"/>
              </a:rPr>
              <a:t>Watson Studio</a:t>
            </a:r>
            <a:r>
              <a:rPr lang="en-US">
                <a:latin typeface="Times New Roman"/>
                <a:cs typeface="Times New Roman"/>
              </a:rPr>
              <a:t>: Predictive analytics &amp; ML models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latin typeface="Times New Roman"/>
                <a:cs typeface="Times New Roman"/>
              </a:rPr>
              <a:t>watsonx</a:t>
            </a:r>
            <a:r>
              <a:rPr lang="en-US" b="1">
                <a:latin typeface="Times New Roman"/>
                <a:cs typeface="Times New Roman"/>
              </a:rPr>
              <a:t> Orchestrate</a:t>
            </a:r>
            <a:r>
              <a:rPr lang="en-US">
                <a:latin typeface="Times New Roman"/>
                <a:cs typeface="Times New Roman"/>
              </a:rPr>
              <a:t>: Agent coordination hub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latin typeface="Times New Roman"/>
                <a:cs typeface="Times New Roman"/>
              </a:rPr>
              <a:t>Langflow</a:t>
            </a:r>
            <a:r>
              <a:rPr lang="en-US">
                <a:latin typeface="Times New Roman"/>
                <a:cs typeface="Times New Roman"/>
              </a:rPr>
              <a:t>: Visual workflow design &amp; clinical validation</a:t>
            </a:r>
            <a:endParaRPr lang="en-US">
              <a:latin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latin typeface="Times New Roman"/>
                <a:cs typeface="Times New Roman"/>
              </a:rPr>
              <a:t>AstraDB</a:t>
            </a:r>
            <a:r>
              <a:rPr lang="en-US">
                <a:latin typeface="Times New Roman"/>
                <a:cs typeface="Times New Roman"/>
              </a:rPr>
              <a:t>: Vector database for patient records with IBM Embedded LLM</a:t>
            </a:r>
            <a:endParaRPr lang="en-US">
              <a:latin typeface="Times New Roman"/>
            </a:endParaRPr>
          </a:p>
          <a:p>
            <a:pPr>
              <a:defRPr/>
            </a:pPr>
            <a:endParaRPr lang="en-US">
              <a:latin typeface="Times New Roman"/>
            </a:endParaRPr>
          </a:p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Target Impact:</a:t>
            </a:r>
            <a:r>
              <a:rPr lang="en-US">
                <a:latin typeface="Times New Roman"/>
                <a:cs typeface="Times New Roman"/>
              </a:rPr>
              <a:t> Prevent 70,000+ annual progressions to kidney failure</a:t>
            </a:r>
            <a:endParaRPr lang="en-US">
              <a:latin typeface="Times New Roman"/>
            </a:endParaRPr>
          </a:p>
          <a:p>
            <a:pPr algn="l">
              <a:defRPr/>
            </a:pPr>
            <a:endParaRPr lang="en-US">
              <a:latin typeface="Times New Roman"/>
            </a:endParaRPr>
          </a:p>
        </p:txBody>
      </p:sp>
      <p:pic>
        <p:nvPicPr>
          <p:cNvPr id="1111136336" name="Picture 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726679" y="3825079"/>
            <a:ext cx="2191317" cy="1095658"/>
          </a:xfrm>
          <a:prstGeom prst="rect">
            <a:avLst/>
          </a:prstGeom>
        </p:spPr>
      </p:pic>
      <p:pic>
        <p:nvPicPr>
          <p:cNvPr id="111051766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300414" y="1780571"/>
            <a:ext cx="2191316" cy="1231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4510715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442896" name="Text Placeholder 1"/>
          <p:cNvSpPr>
            <a:spLocks noGrp="1"/>
          </p:cNvSpPr>
          <p:nvPr>
            <p:ph type="body" sz="quarter" idx="12"/>
          </p:nvPr>
        </p:nvSpPr>
        <p:spPr bwMode="auto">
          <a:xfrm>
            <a:off x="660400" y="2044700"/>
            <a:ext cx="8611191" cy="35607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IN" sz="2400"/>
              <a:t> </a:t>
            </a:r>
            <a:endParaRPr/>
          </a:p>
        </p:txBody>
      </p:sp>
      <p:sp>
        <p:nvSpPr>
          <p:cNvPr id="1335898237" name="Title 3"/>
          <p:cNvSpPr>
            <a:spLocks noGrp="1"/>
          </p:cNvSpPr>
          <p:nvPr>
            <p:ph type="title"/>
          </p:nvPr>
        </p:nvSpPr>
        <p:spPr bwMode="auto">
          <a:xfrm>
            <a:off x="660400" y="805213"/>
            <a:ext cx="6237550" cy="65960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NEED OF PROJECT </a:t>
            </a:r>
            <a:endParaRPr lang="en-IN"/>
          </a:p>
        </p:txBody>
      </p:sp>
      <p:pic>
        <p:nvPicPr>
          <p:cNvPr id="1214753006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56675" y="2651052"/>
            <a:ext cx="3810000" cy="3810000"/>
          </a:xfrm>
          <a:prstGeom prst="rect">
            <a:avLst/>
          </a:prstGeom>
        </p:spPr>
      </p:pic>
      <p:pic>
        <p:nvPicPr>
          <p:cNvPr id="339868633" name="Picture 5"/>
          <p:cNvPicPr>
            <a:picLocks noChangeAspect="1"/>
          </p:cNvPicPr>
          <p:nvPr/>
        </p:nvPicPr>
        <p:blipFill rotWithShape="1">
          <a:blip r:embed="rId4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pic>
        <p:nvPicPr>
          <p:cNvPr id="811570532" name="Picture 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97103" y="1246909"/>
            <a:ext cx="5747431" cy="5413167"/>
          </a:xfrm>
          <a:prstGeom prst="rect">
            <a:avLst/>
          </a:prstGeom>
        </p:spPr>
      </p:pic>
      <p:sp>
        <p:nvSpPr>
          <p:cNvPr id="643390765" name="TextBox 2"/>
          <p:cNvSpPr txBox="1"/>
          <p:nvPr/>
        </p:nvSpPr>
        <p:spPr bwMode="auto">
          <a:xfrm>
            <a:off x="443537" y="1831861"/>
            <a:ext cx="541784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b="1"/>
              <a:t>Current reality:</a:t>
            </a:r>
            <a:r>
              <a:rPr lang="en-US"/>
              <a:t> 50% diagnosed when kidneys already 85-90% damaged</a:t>
            </a:r>
            <a:endParaRPr/>
          </a:p>
          <a:p>
            <a:pPr>
              <a:defRPr/>
            </a:pPr>
            <a:endParaRPr lang="en-US"/>
          </a:p>
          <a:p>
            <a:pPr marL="285750" indent="-285750">
              <a:buFont typeface="Arial"/>
              <a:buChar char="•"/>
              <a:defRPr/>
            </a:pPr>
            <a:r>
              <a:rPr lang="en-US" b="1"/>
              <a:t>What we need:</a:t>
            </a:r>
            <a:r>
              <a:rPr lang="en-US"/>
              <a:t> Catch patients at Stage 1-2 when kidneys are 60-90% functional</a:t>
            </a:r>
            <a:endParaRPr/>
          </a:p>
          <a:p>
            <a:pPr>
              <a:defRPr/>
            </a:pPr>
            <a:endParaRPr lang="en-US"/>
          </a:p>
          <a:p>
            <a:pPr marL="285750" indent="-285750">
              <a:buFont typeface="Arial"/>
              <a:buChar char="•"/>
              <a:defRPr/>
            </a:pPr>
            <a:r>
              <a:rPr lang="en-US" b="1"/>
              <a:t>Prevention is 10x cheaper</a:t>
            </a:r>
            <a:r>
              <a:rPr lang="en-US"/>
              <a:t> than treatment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endParaRPr lang="en-US"/>
          </a:p>
          <a:p>
            <a:pPr marL="285750" indent="-285750">
              <a:buFont typeface="Arial"/>
              <a:buChar char="•"/>
              <a:defRPr/>
            </a:pPr>
            <a:r>
              <a:rPr lang="en-US" b="1"/>
              <a:t>Without intervention:</a:t>
            </a:r>
            <a:r>
              <a:rPr lang="en-US"/>
              <a:t> This number will hit 300,000+ by 2030</a:t>
            </a:r>
            <a:endParaRPr/>
          </a:p>
          <a:p>
            <a:pPr>
              <a:defRPr/>
            </a:pPr>
            <a:endParaRPr lang="en-US"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1 nephrologist serves </a:t>
            </a:r>
            <a:r>
              <a:rPr lang="en-US" b="1"/>
              <a:t>700,000 people</a:t>
            </a:r>
            <a:r>
              <a:rPr lang="en-US"/>
              <a:t> (vs. 1:50,000 </a:t>
            </a:r>
            <a:r>
              <a:rPr lang="en-US"/>
              <a:t>indeveloped</a:t>
            </a:r>
            <a:r>
              <a:rPr lang="en-US"/>
              <a:t> countries)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62442896" grpId="0" build="p"/>
      <p:bldP spid="13358982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173680" name="Flowchart: Connector 4"/>
          <p:cNvSpPr/>
          <p:nvPr/>
        </p:nvSpPr>
        <p:spPr bwMode="auto">
          <a:xfrm>
            <a:off x="1677370" y="1589998"/>
            <a:ext cx="2024332" cy="188055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8055039" name="Title 3"/>
          <p:cNvSpPr>
            <a:spLocks noGrp="1"/>
          </p:cNvSpPr>
          <p:nvPr>
            <p:ph type="title"/>
          </p:nvPr>
        </p:nvSpPr>
        <p:spPr bwMode="auto"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/>
              <a:t>WHO ARE THE END USERS?</a:t>
            </a:r>
            <a:endParaRPr lang="en-IN" sz="2000"/>
          </a:p>
        </p:txBody>
      </p:sp>
      <p:pic>
        <p:nvPicPr>
          <p:cNvPr id="706951337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148014633" name="Flowchart: Connector 5"/>
          <p:cNvSpPr/>
          <p:nvPr/>
        </p:nvSpPr>
        <p:spPr bwMode="auto">
          <a:xfrm>
            <a:off x="6189060" y="1461346"/>
            <a:ext cx="2024332" cy="1880558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29676426" name="Picture 6" descr="Patient png Images - Free Download on ..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675151" y="1720176"/>
            <a:ext cx="2019356" cy="1627752"/>
          </a:xfrm>
          <a:prstGeom prst="flowChartConnector">
            <a:avLst/>
          </a:prstGeom>
        </p:spPr>
      </p:pic>
      <p:pic>
        <p:nvPicPr>
          <p:cNvPr id="1667203134" name="Picture 9" descr="Different Types of Doctors | Trinity School of Medicin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93724" y="1452252"/>
            <a:ext cx="2031178" cy="1885209"/>
          </a:xfrm>
          <a:prstGeom prst="flowChartConnector">
            <a:avLst/>
          </a:prstGeom>
        </p:spPr>
      </p:pic>
      <p:sp>
        <p:nvSpPr>
          <p:cNvPr id="172062630" name="TextBox 10"/>
          <p:cNvSpPr txBox="1"/>
          <p:nvPr/>
        </p:nvSpPr>
        <p:spPr bwMode="auto">
          <a:xfrm>
            <a:off x="822503" y="3595613"/>
            <a:ext cx="445164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Patients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+mn-lt"/>
                <a:cs typeface="+mn-lt"/>
              </a:rPr>
              <a:t>Empowers patients to catch CKD at Stage 1-2, not Stage 5</a:t>
            </a:r>
            <a:endParaRPr lang="en-US"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+mn-lt"/>
                <a:cs typeface="+mn-lt"/>
              </a:rPr>
              <a:t>Kidney-friendly meal plans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Based on YOUR regional cuisine (dal-roti, </a:t>
            </a:r>
            <a:r>
              <a:rPr lang="en-US">
                <a:ea typeface="+mn-lt"/>
                <a:cs typeface="+mn-lt"/>
              </a:rPr>
              <a:t>idli</a:t>
            </a:r>
            <a:r>
              <a:rPr lang="en-US">
                <a:ea typeface="+mn-lt"/>
                <a:cs typeface="+mn-lt"/>
              </a:rPr>
              <a:t>-sambar, fish curry)</a:t>
            </a:r>
            <a:endParaRPr/>
          </a:p>
        </p:txBody>
      </p:sp>
      <p:sp>
        <p:nvSpPr>
          <p:cNvPr id="115365248" name="TextBox 12"/>
          <p:cNvSpPr txBox="1"/>
          <p:nvPr/>
        </p:nvSpPr>
        <p:spPr bwMode="auto">
          <a:xfrm>
            <a:off x="5834397" y="3594369"/>
            <a:ext cx="359824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ea typeface="+mn-lt"/>
                <a:cs typeface="+mn-lt"/>
              </a:rPr>
              <a:t>Nephrologists</a:t>
            </a:r>
            <a:endParaRPr lang="en-US"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ea typeface="+mn-lt"/>
                <a:cs typeface="+mn-lt"/>
              </a:rPr>
              <a:t>10x capacity:</a:t>
            </a:r>
            <a:r>
              <a:rPr lang="en-US">
                <a:ea typeface="+mn-lt"/>
                <a:cs typeface="+mn-lt"/>
              </a:rPr>
              <a:t> Serve 7 million patients instead of 700,000 through AI assistance</a:t>
            </a:r>
            <a:endParaRPr lang="en-US"/>
          </a:p>
          <a:p>
            <a:pPr marL="285750" indent="-285750">
              <a:buFont typeface="Arial"/>
              <a:buChar char="•"/>
              <a:defRPr/>
            </a:pPr>
            <a:r>
              <a:rPr lang="en-US" b="1">
                <a:ea typeface="+mn-lt"/>
                <a:cs typeface="+mn-lt"/>
              </a:rPr>
              <a:t>RAG Agent:</a:t>
            </a:r>
            <a:r>
              <a:rPr lang="en-US">
                <a:ea typeface="+mn-lt"/>
                <a:cs typeface="+mn-lt"/>
              </a:rPr>
              <a:t> Access 10,000+ research papers in seconds—get latest guidelines for complex cases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080550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148548" name="Picture 4"/>
          <p:cNvPicPr>
            <a:picLocks noChangeAspect="1"/>
          </p:cNvPicPr>
          <p:nvPr/>
        </p:nvPicPr>
        <p:blipFill rotWithShape="1">
          <a:blip r:embed="rId3"/>
          <a:srcRect l="8584" t="-1433" r="-358" b="0"/>
          <a:stretch/>
        </p:blipFill>
        <p:spPr bwMode="auto">
          <a:xfrm>
            <a:off x="-9315" y="1472916"/>
            <a:ext cx="2471449" cy="3290414"/>
          </a:xfrm>
          <a:prstGeom prst="rect">
            <a:avLst/>
          </a:prstGeom>
        </p:spPr>
      </p:pic>
      <p:sp>
        <p:nvSpPr>
          <p:cNvPr id="1565553710" name="Title 3"/>
          <p:cNvSpPr>
            <a:spLocks noGrp="1"/>
          </p:cNvSpPr>
          <p:nvPr>
            <p:ph type="title"/>
          </p:nvPr>
        </p:nvSpPr>
        <p:spPr bwMode="auto">
          <a:xfrm>
            <a:off x="459609" y="1041"/>
            <a:ext cx="10454444" cy="1356646"/>
          </a:xfrm>
        </p:spPr>
        <p:txBody>
          <a:bodyPr/>
          <a:lstStyle/>
          <a:p>
            <a:pPr>
              <a:defRPr/>
            </a:pPr>
            <a:br>
              <a:rPr lang="en-US" sz="3600"/>
            </a:br>
            <a:r>
              <a:rPr lang="en-US" sz="3600"/>
              <a:t>YOUR SOLUTION AND ITS VALUE PROPOSITION</a:t>
            </a:r>
            <a:endParaRPr lang="en-IN" sz="3600"/>
          </a:p>
        </p:txBody>
      </p:sp>
      <p:pic>
        <p:nvPicPr>
          <p:cNvPr id="1703911926" name="Picture 5"/>
          <p:cNvPicPr>
            <a:picLocks noChangeAspect="1"/>
          </p:cNvPicPr>
          <p:nvPr/>
        </p:nvPicPr>
        <p:blipFill rotWithShape="1">
          <a:blip r:embed="rId4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380068117" name="Rectangle: Rounded Corners 4"/>
          <p:cNvSpPr/>
          <p:nvPr/>
        </p:nvSpPr>
        <p:spPr bwMode="auto">
          <a:xfrm>
            <a:off x="1943148" y="1359709"/>
            <a:ext cx="2929262" cy="152122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1841314" name="Rectangle: Rounded Corners 7"/>
          <p:cNvSpPr/>
          <p:nvPr/>
        </p:nvSpPr>
        <p:spPr bwMode="auto">
          <a:xfrm>
            <a:off x="1943147" y="3144139"/>
            <a:ext cx="2929262" cy="152122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6451265" name="Rectangle: Rounded Corners 8"/>
          <p:cNvSpPr/>
          <p:nvPr/>
        </p:nvSpPr>
        <p:spPr bwMode="auto">
          <a:xfrm>
            <a:off x="1943148" y="5044317"/>
            <a:ext cx="2929262" cy="152122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41816524" name="Rectangle: Rounded Corners 9"/>
          <p:cNvSpPr/>
          <p:nvPr/>
        </p:nvSpPr>
        <p:spPr bwMode="auto">
          <a:xfrm>
            <a:off x="5174413" y="1359708"/>
            <a:ext cx="2929262" cy="152122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2785244" name="Rectangle: Rounded Corners 10"/>
          <p:cNvSpPr/>
          <p:nvPr/>
        </p:nvSpPr>
        <p:spPr bwMode="auto">
          <a:xfrm>
            <a:off x="5174414" y="3144139"/>
            <a:ext cx="2929262" cy="152122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1625101" name="Rectangle: Rounded Corners 11"/>
          <p:cNvSpPr/>
          <p:nvPr/>
        </p:nvSpPr>
        <p:spPr bwMode="auto">
          <a:xfrm>
            <a:off x="5174413" y="5044316"/>
            <a:ext cx="2929262" cy="152122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2211911" name="TextBox 12"/>
          <p:cNvSpPr txBox="1"/>
          <p:nvPr/>
        </p:nvSpPr>
        <p:spPr bwMode="auto">
          <a:xfrm>
            <a:off x="1938759" y="1461304"/>
            <a:ext cx="2932254" cy="1308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ctr" rtl="0">
              <a:defRPr/>
            </a:pPr>
            <a:r>
              <a:rPr lang="en-US" sz="1600" b="1">
                <a:latin typeface="Trebuchet MS"/>
                <a:ea typeface="+mn-ea"/>
                <a:cs typeface="+mn-cs"/>
              </a:rPr>
              <a:t>Early Detection Agent</a:t>
            </a:r>
            <a:endParaRPr/>
          </a:p>
          <a:p>
            <a:pPr marL="0" algn="ctr" rtl="0">
              <a:defRPr/>
            </a:pPr>
            <a:endParaRPr lang="en-IN" sz="800"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Detects CKD before symptoms appear. ​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Monitors eGFR trends + proteinuria + risk factors.​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Saves kidneys when 60–90% function remains. </a:t>
            </a:r>
            <a:endParaRPr/>
          </a:p>
        </p:txBody>
      </p:sp>
      <p:sp>
        <p:nvSpPr>
          <p:cNvPr id="628775659" name="TextBox 13"/>
          <p:cNvSpPr txBox="1"/>
          <p:nvPr/>
        </p:nvSpPr>
        <p:spPr bwMode="auto">
          <a:xfrm>
            <a:off x="5170025" y="1461304"/>
            <a:ext cx="2932254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ctr" rtl="0">
              <a:defRPr/>
            </a:pPr>
            <a:r>
              <a:rPr lang="en-US" sz="1600" b="1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Risk Stratification Agent</a:t>
            </a:r>
            <a:endParaRPr/>
          </a:p>
          <a:p>
            <a:pPr marL="173736" indent="-173736" algn="ctr" rtl="0">
              <a:defRPr/>
            </a:pPr>
            <a:endParaRPr lang="en-IN"/>
          </a:p>
          <a:p>
            <a:pPr marL="173736" indent="-173736" algn="l" rtl="0">
              <a:buFont typeface="Arial"/>
              <a:buChar char="•"/>
              <a:defRPr/>
            </a:pPr>
            <a:r>
              <a:rPr lang="en-US" sz="11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Predicts 3 &amp; 5-year ESRD risk​.</a:t>
            </a:r>
            <a:endParaRPr/>
          </a:p>
          <a:p>
            <a:pPr marL="173736" indent="-173736" algn="l" rtl="0">
              <a:buFont typeface="Arial"/>
              <a:buChar char="•"/>
              <a:defRPr/>
            </a:pPr>
            <a:r>
              <a:rPr lang="en-US" sz="11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Identifies 80% rapid progressors early.</a:t>
            </a:r>
            <a:endParaRPr/>
          </a:p>
          <a:p>
            <a:pPr marL="0" algn="ctr" rtl="0">
              <a:defRPr/>
            </a:pPr>
            <a:endParaRPr lang="en-IN"/>
          </a:p>
          <a:p>
            <a:pPr algn="ctr">
              <a:defRPr/>
            </a:pPr>
            <a:endParaRPr lang="en-US"/>
          </a:p>
        </p:txBody>
      </p:sp>
      <p:sp>
        <p:nvSpPr>
          <p:cNvPr id="1294942701" name="TextBox 14"/>
          <p:cNvSpPr txBox="1"/>
          <p:nvPr/>
        </p:nvSpPr>
        <p:spPr bwMode="auto">
          <a:xfrm>
            <a:off x="1938760" y="3236089"/>
            <a:ext cx="2932254" cy="17697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 sz="1600" b="1">
                <a:latin typeface="Trebuchet MS"/>
                <a:ea typeface="+mn-ea"/>
                <a:cs typeface="+mn-cs"/>
              </a:rPr>
              <a:t>RAG-Based CKD Stage</a:t>
            </a:r>
            <a:endParaRPr lang="en-US"/>
          </a:p>
          <a:p>
            <a:pPr algn="ctr">
              <a:defRPr/>
            </a:pPr>
            <a:r>
              <a:rPr lang="en-US" sz="1600" b="1">
                <a:latin typeface="Trebuchet MS"/>
              </a:rPr>
              <a:t> </a:t>
            </a:r>
            <a:r>
              <a:rPr lang="en-US" sz="1600" b="1">
                <a:latin typeface="Trebuchet MS"/>
                <a:ea typeface="+mn-ea"/>
                <a:cs typeface="+mn-cs"/>
              </a:rPr>
              <a:t>Agent</a:t>
            </a:r>
            <a:endParaRPr lang="en-US"/>
          </a:p>
          <a:p>
            <a:pPr marL="0" algn="ctr" rtl="0">
              <a:defRPr/>
            </a:pPr>
            <a:endParaRPr lang="en-IN" sz="800"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Instant CKD stage confirmation​.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Evidence-based treatment in seconds​.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Reduces diagnostic errors by 50%.</a:t>
            </a:r>
            <a:endParaRPr/>
          </a:p>
          <a:p>
            <a:pPr marL="0" algn="ctr" rtl="0">
              <a:defRPr/>
            </a:pPr>
            <a:endParaRPr lang="en-IN"/>
          </a:p>
          <a:p>
            <a:pPr algn="ctr">
              <a:defRPr/>
            </a:pPr>
            <a:endParaRPr lang="en-US"/>
          </a:p>
        </p:txBody>
      </p:sp>
      <p:sp>
        <p:nvSpPr>
          <p:cNvPr id="608449314" name="TextBox 15"/>
          <p:cNvSpPr txBox="1"/>
          <p:nvPr/>
        </p:nvSpPr>
        <p:spPr bwMode="auto">
          <a:xfrm>
            <a:off x="5295417" y="3274671"/>
            <a:ext cx="2671823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ctr" rtl="0">
              <a:defRPr/>
            </a:pPr>
            <a:r>
              <a:rPr lang="en-US" sz="1600" b="1">
                <a:latin typeface="Trebuchet MS"/>
                <a:ea typeface="+mn-ea"/>
                <a:cs typeface="+mn-cs"/>
              </a:rPr>
              <a:t>Virtual Nephrology Agent</a:t>
            </a:r>
            <a:endParaRPr/>
          </a:p>
          <a:p>
            <a:pPr marL="0" algn="ctr" rtl="0">
              <a:defRPr/>
            </a:pPr>
            <a:endParaRPr lang="en-IN" sz="1000"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Multilingual, patient-friendly consultations​.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Handles routine care automatically​.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10× nephrologist capacity at scale.</a:t>
            </a:r>
            <a:endParaRPr/>
          </a:p>
        </p:txBody>
      </p:sp>
      <p:sp>
        <p:nvSpPr>
          <p:cNvPr id="1820040218" name="TextBox 16"/>
          <p:cNvSpPr txBox="1"/>
          <p:nvPr/>
        </p:nvSpPr>
        <p:spPr bwMode="auto">
          <a:xfrm>
            <a:off x="1938759" y="5145911"/>
            <a:ext cx="2932254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ctr" rtl="0">
              <a:defRPr/>
            </a:pPr>
            <a:r>
              <a:rPr lang="en-US" sz="1600" b="1">
                <a:latin typeface="Trebuchet MS"/>
                <a:ea typeface="+mn-ea"/>
                <a:cs typeface="+mn-cs"/>
              </a:rPr>
              <a:t>Cardiovascular Protection Agent</a:t>
            </a:r>
            <a:endParaRPr/>
          </a:p>
          <a:p>
            <a:pPr marL="0" algn="l" rtl="0">
              <a:defRPr/>
            </a:pPr>
            <a:endParaRPr lang="en-IN" sz="900"/>
          </a:p>
          <a:p>
            <a:pPr marL="283210" indent="-283210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Manages BP, diabetes &amp; lipid risks​.</a:t>
            </a:r>
            <a:endParaRPr/>
          </a:p>
          <a:p>
            <a:pPr marL="283210" indent="-283210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30% reduction in CV events.</a:t>
            </a:r>
            <a:endParaRPr/>
          </a:p>
          <a:p>
            <a:pPr marL="0" algn="ctr" rtl="0">
              <a:defRPr/>
            </a:pPr>
            <a:endParaRPr lang="en-IN"/>
          </a:p>
          <a:p>
            <a:pPr algn="ctr">
              <a:defRPr/>
            </a:pPr>
            <a:endParaRPr lang="en-US"/>
          </a:p>
        </p:txBody>
      </p:sp>
      <p:sp>
        <p:nvSpPr>
          <p:cNvPr id="156693963" name="TextBox 17"/>
          <p:cNvSpPr txBox="1"/>
          <p:nvPr/>
        </p:nvSpPr>
        <p:spPr bwMode="auto">
          <a:xfrm>
            <a:off x="5170025" y="5145911"/>
            <a:ext cx="293225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ctr" rtl="0">
              <a:defRPr/>
            </a:pPr>
            <a:r>
              <a:rPr lang="en-US" sz="1600" b="1">
                <a:latin typeface="Trebuchet MS"/>
                <a:ea typeface="+mn-ea"/>
                <a:cs typeface="+mn-cs"/>
              </a:rPr>
              <a:t>Personalized Nutrition Agent</a:t>
            </a:r>
            <a:endParaRPr/>
          </a:p>
          <a:p>
            <a:pPr marL="0" algn="ctr" rtl="0">
              <a:defRPr/>
            </a:pPr>
            <a:endParaRPr lang="en-IN" sz="900"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Indian kidney-safe regional diets​.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Patients eat familiar food, not restrictions​.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50% higher dietary adherence​.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100">
                <a:latin typeface="Trebuchet MS"/>
                <a:ea typeface="+mn-ea"/>
                <a:cs typeface="+mn-cs"/>
              </a:rPr>
              <a:t>Slows CKD progression naturally.</a:t>
            </a:r>
            <a:endParaRPr/>
          </a:p>
        </p:txBody>
      </p:sp>
      <p:sp>
        <p:nvSpPr>
          <p:cNvPr id="733457531" name="Rectangle 19"/>
          <p:cNvSpPr/>
          <p:nvPr/>
        </p:nvSpPr>
        <p:spPr bwMode="auto">
          <a:xfrm>
            <a:off x="8582859" y="1362167"/>
            <a:ext cx="3302954" cy="50870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2994949" name="Arrow: Pentagon 21"/>
          <p:cNvSpPr/>
          <p:nvPr/>
        </p:nvSpPr>
        <p:spPr bwMode="auto">
          <a:xfrm>
            <a:off x="8688941" y="2234952"/>
            <a:ext cx="3085963" cy="1051148"/>
          </a:xfrm>
          <a:prstGeom prst="homePlate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2882075" name="Arrow: Pentagon 23"/>
          <p:cNvSpPr/>
          <p:nvPr/>
        </p:nvSpPr>
        <p:spPr bwMode="auto">
          <a:xfrm>
            <a:off x="8688940" y="3710724"/>
            <a:ext cx="3085963" cy="1051148"/>
          </a:xfrm>
          <a:prstGeom prst="homePlate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0914155" name="Arrow: Pentagon 24"/>
          <p:cNvSpPr/>
          <p:nvPr/>
        </p:nvSpPr>
        <p:spPr bwMode="auto">
          <a:xfrm>
            <a:off x="8688941" y="5147913"/>
            <a:ext cx="3085963" cy="1051148"/>
          </a:xfrm>
          <a:prstGeom prst="homePlate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72596805" name="Picture 25" descr="A person with a heart and a shield&#10;&#10;AI-generated content may be incorrect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827566" y="2365215"/>
            <a:ext cx="729326" cy="796483"/>
          </a:xfrm>
          <a:prstGeom prst="rect">
            <a:avLst/>
          </a:prstGeom>
        </p:spPr>
      </p:pic>
      <p:sp>
        <p:nvSpPr>
          <p:cNvPr id="1172821595" name="TextBox 26"/>
          <p:cNvSpPr txBox="1"/>
          <p:nvPr/>
        </p:nvSpPr>
        <p:spPr bwMode="auto">
          <a:xfrm>
            <a:off x="9558759" y="2300469"/>
            <a:ext cx="178443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1200" b="1">
                <a:latin typeface="Trebuchet MS"/>
                <a:ea typeface="+mn-ea"/>
                <a:cs typeface="+mn-cs"/>
              </a:rPr>
              <a:t>For Patients :</a:t>
            </a:r>
            <a:endParaRPr/>
          </a:p>
          <a:p>
            <a:pPr marL="0" algn="l" rtl="0">
              <a:defRPr/>
            </a:pPr>
            <a:endParaRPr lang="en-IN" sz="800"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200">
                <a:latin typeface="Trebuchet MS"/>
                <a:ea typeface="+mn-ea"/>
                <a:cs typeface="+mn-cs"/>
              </a:rPr>
              <a:t>Early warning system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200">
                <a:latin typeface="Trebuchet MS"/>
                <a:ea typeface="+mn-ea"/>
                <a:cs typeface="+mn-cs"/>
              </a:rPr>
              <a:t>Personalized Care</a:t>
            </a:r>
            <a:endParaRPr/>
          </a:p>
        </p:txBody>
      </p:sp>
      <p:pic>
        <p:nvPicPr>
          <p:cNvPr id="1075826476" name="Picture 27" descr="A doctor with a stethoscope and kidneys&#10;&#10;AI-generated content may be incorrect.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827684" y="3855153"/>
            <a:ext cx="729086" cy="806730"/>
          </a:xfrm>
          <a:prstGeom prst="rect">
            <a:avLst/>
          </a:prstGeom>
        </p:spPr>
      </p:pic>
      <p:sp>
        <p:nvSpPr>
          <p:cNvPr id="159515356" name="TextBox 28"/>
          <p:cNvSpPr txBox="1"/>
          <p:nvPr/>
        </p:nvSpPr>
        <p:spPr bwMode="auto">
          <a:xfrm>
            <a:off x="9558759" y="3756948"/>
            <a:ext cx="211238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1200" b="1">
                <a:latin typeface="Trebuchet MS"/>
                <a:ea typeface="+mn-ea"/>
                <a:cs typeface="+mn-cs"/>
              </a:rPr>
              <a:t>For Nephrologist :</a:t>
            </a:r>
            <a:endParaRPr/>
          </a:p>
          <a:p>
            <a:pPr marL="0" algn="l" rtl="0">
              <a:defRPr/>
            </a:pPr>
            <a:endParaRPr lang="en-IN" sz="800"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200">
                <a:latin typeface="Trebuchet MS"/>
                <a:ea typeface="+mn-ea"/>
                <a:cs typeface="+mn-cs"/>
              </a:rPr>
              <a:t>10x productivity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200">
                <a:latin typeface="Trebuchet MS"/>
                <a:ea typeface="+mn-ea"/>
                <a:cs typeface="+mn-cs"/>
              </a:rPr>
              <a:t>Prevent ESRD using predictive analytics</a:t>
            </a:r>
            <a:endParaRPr/>
          </a:p>
        </p:txBody>
      </p:sp>
      <p:pic>
        <p:nvPicPr>
          <p:cNvPr id="257634365" name="Picture 29" descr="A map of india with white dots and black outline&#10;&#10;AI-generated content may be incorrect.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823525" y="5274498"/>
            <a:ext cx="698823" cy="803839"/>
          </a:xfrm>
          <a:prstGeom prst="rect">
            <a:avLst/>
          </a:prstGeom>
        </p:spPr>
      </p:pic>
      <p:sp>
        <p:nvSpPr>
          <p:cNvPr id="985670480" name="TextBox 30"/>
          <p:cNvSpPr txBox="1"/>
          <p:nvPr/>
        </p:nvSpPr>
        <p:spPr bwMode="auto">
          <a:xfrm>
            <a:off x="9558759" y="5203785"/>
            <a:ext cx="2218482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1200" b="1">
                <a:latin typeface="Trebuchet MS"/>
                <a:ea typeface="+mn-ea"/>
                <a:cs typeface="+mn-cs"/>
              </a:rPr>
              <a:t>For India :</a:t>
            </a:r>
            <a:endParaRPr/>
          </a:p>
          <a:p>
            <a:pPr marL="0" algn="l" rtl="0">
              <a:defRPr/>
            </a:pPr>
            <a:endParaRPr lang="en-IN" sz="800"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70% reduction through prevention</a:t>
            </a:r>
            <a:endParaRPr/>
          </a:p>
          <a:p>
            <a:pPr marL="173355" indent="-173355" algn="l" rtl="0"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Close rural-urban gap</a:t>
            </a:r>
            <a:endParaRPr/>
          </a:p>
          <a:p>
            <a:pPr marL="0" algn="l" rtl="0">
              <a:defRPr/>
            </a:pPr>
            <a:endParaRPr lang="en-IN"/>
          </a:p>
          <a:p>
            <a:pPr algn="ctr">
              <a:defRPr/>
            </a:pPr>
            <a:endParaRPr lang="en-US"/>
          </a:p>
        </p:txBody>
      </p:sp>
      <p:sp>
        <p:nvSpPr>
          <p:cNvPr id="142546941" name="TextBox 31"/>
          <p:cNvSpPr txBox="1"/>
          <p:nvPr/>
        </p:nvSpPr>
        <p:spPr bwMode="auto">
          <a:xfrm>
            <a:off x="8690658" y="1557760"/>
            <a:ext cx="372319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2000" b="1">
                <a:latin typeface="Trebuchet MS"/>
                <a:ea typeface="+mn-ea"/>
                <a:cs typeface="+mn-cs"/>
              </a:rPr>
              <a:t>Value proposition :</a:t>
            </a:r>
            <a:endParaRPr/>
          </a:p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5655537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818098" name="Text Placeholder 1"/>
          <p:cNvSpPr>
            <a:spLocks noGrp="1"/>
          </p:cNvSpPr>
          <p:nvPr>
            <p:ph type="body" sz="quarter" idx="12"/>
          </p:nvPr>
        </p:nvSpPr>
        <p:spPr bwMode="auto">
          <a:xfrm>
            <a:off x="660400" y="2044700"/>
            <a:ext cx="8611191" cy="35607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IN" sz="2400"/>
              <a:t> </a:t>
            </a:r>
            <a:r>
              <a:rPr u="sng">
                <a:solidFill>
                  <a:schemeClr val="hlink"/>
                </a:solidFill>
              </a:rPr>
              <a:t> </a:t>
            </a:r>
            <a:endParaRPr lang="en-IN" sz="2400"/>
          </a:p>
        </p:txBody>
      </p:sp>
      <p:sp>
        <p:nvSpPr>
          <p:cNvPr id="1257913332" name="Title 3"/>
          <p:cNvSpPr>
            <a:spLocks noGrp="1"/>
          </p:cNvSpPr>
          <p:nvPr>
            <p:ph type="title"/>
          </p:nvPr>
        </p:nvSpPr>
        <p:spPr bwMode="auto">
          <a:xfrm>
            <a:off x="660400" y="654252"/>
            <a:ext cx="10131647" cy="59828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800"/>
              <a:t>TECHNICAL FLOW DIAGRAM OF YOUR PROJECT</a:t>
            </a:r>
            <a:endParaRPr lang="en-IN" sz="2800"/>
          </a:p>
        </p:txBody>
      </p:sp>
      <p:pic>
        <p:nvPicPr>
          <p:cNvPr id="97832522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704299" y="2854958"/>
            <a:ext cx="3810000" cy="3810000"/>
          </a:xfrm>
          <a:prstGeom prst="rect">
            <a:avLst/>
          </a:prstGeom>
        </p:spPr>
      </p:pic>
      <p:pic>
        <p:nvPicPr>
          <p:cNvPr id="2137217323" name="Picture 5"/>
          <p:cNvPicPr>
            <a:picLocks noChangeAspect="1"/>
          </p:cNvPicPr>
          <p:nvPr/>
        </p:nvPicPr>
        <p:blipFill rotWithShape="1">
          <a:blip r:embed="rId4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971761897" name=" 557871972"/>
          <p:cNvSpPr/>
          <p:nvPr/>
        </p:nvSpPr>
        <p:spPr bwMode="auto">
          <a:xfrm>
            <a:off x="7843699" y="4642219"/>
            <a:ext cx="25524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1980162444" name="Picture 190375798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25558" y="1124743"/>
            <a:ext cx="6448424" cy="5400675"/>
          </a:xfrm>
          <a:prstGeom prst="rect">
            <a:avLst/>
          </a:prstGeom>
        </p:spPr>
      </p:pic>
      <p:sp>
        <p:nvSpPr>
          <p:cNvPr id="792381098" name=" 1960128493"/>
          <p:cNvSpPr/>
          <p:nvPr/>
        </p:nvSpPr>
        <p:spPr bwMode="auto">
          <a:xfrm>
            <a:off x="15443415" y="3340685"/>
            <a:ext cx="86014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sp>
        <p:nvSpPr>
          <p:cNvPr id="1926484460" name=" 157109165"/>
          <p:cNvSpPr/>
          <p:nvPr/>
        </p:nvSpPr>
        <p:spPr bwMode="auto">
          <a:xfrm>
            <a:off x="13272739" y="7204520"/>
            <a:ext cx="185375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113250563" name="Picture 1302443258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100915" y="3912680"/>
            <a:ext cx="2191317" cy="1095658"/>
          </a:xfrm>
          <a:prstGeom prst="rect">
            <a:avLst/>
          </a:prstGeom>
        </p:spPr>
      </p:pic>
      <p:pic>
        <p:nvPicPr>
          <p:cNvPr id="1060325592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100913" y="2299021"/>
            <a:ext cx="2191316" cy="1231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688818098" grpId="0" build="p"/>
      <p:bldP spid="12579133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4320039" name="Picture 4"/>
          <p:cNvPicPr>
            <a:picLocks noChangeAspect="1"/>
          </p:cNvPicPr>
          <p:nvPr/>
        </p:nvPicPr>
        <p:blipFill rotWithShape="1">
          <a:blip r:embed="rId3"/>
          <a:srcRect l="0" t="0" r="0" b="7596"/>
          <a:stretch/>
        </p:blipFill>
        <p:spPr bwMode="auto">
          <a:xfrm>
            <a:off x="0" y="3429000"/>
            <a:ext cx="2451293" cy="3420077"/>
          </a:xfrm>
          <a:prstGeom prst="rect">
            <a:avLst/>
          </a:prstGeom>
        </p:spPr>
      </p:pic>
      <p:sp>
        <p:nvSpPr>
          <p:cNvPr id="1848266245" name="Title 3"/>
          <p:cNvSpPr>
            <a:spLocks noGrp="1"/>
          </p:cNvSpPr>
          <p:nvPr>
            <p:ph type="title"/>
          </p:nvPr>
        </p:nvSpPr>
        <p:spPr bwMode="auto">
          <a:xfrm>
            <a:off x="595085" y="565118"/>
            <a:ext cx="8503921" cy="141426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THE WOW IN YOUR SOLUTION</a:t>
            </a:r>
            <a:endParaRPr lang="en-IN"/>
          </a:p>
        </p:txBody>
      </p:sp>
      <p:pic>
        <p:nvPicPr>
          <p:cNvPr id="486418632" name="Picture 1" descr="A close-up of a robot&#10;&#10;AI-generated content may be incorrect."/>
          <p:cNvPicPr>
            <a:picLocks noChangeAspect="1"/>
          </p:cNvPicPr>
          <p:nvPr/>
        </p:nvPicPr>
        <p:blipFill rotWithShape="1">
          <a:blip r:embed="rId4"/>
          <a:srcRect l="0" t="8240" r="-358" b="8075"/>
          <a:stretch/>
        </p:blipFill>
        <p:spPr bwMode="auto">
          <a:xfrm>
            <a:off x="2659503" y="1548669"/>
            <a:ext cx="2696797" cy="1569196"/>
          </a:xfrm>
          <a:prstGeom prst="rect">
            <a:avLst/>
          </a:prstGeom>
        </p:spPr>
      </p:pic>
      <p:sp>
        <p:nvSpPr>
          <p:cNvPr id="1724932173" name="TextBox 2"/>
          <p:cNvSpPr txBox="1"/>
          <p:nvPr/>
        </p:nvSpPr>
        <p:spPr bwMode="auto">
          <a:xfrm>
            <a:off x="2662177" y="3142802"/>
            <a:ext cx="292260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14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1.IBM Granite 4 – speaks 15+ Indian languages with context.</a:t>
            </a:r>
            <a:endParaRPr/>
          </a:p>
          <a:p>
            <a:pPr algn="ctr">
              <a:defRPr/>
            </a:pPr>
            <a:endParaRPr lang="en-US"/>
          </a:p>
        </p:txBody>
      </p:sp>
      <p:pic>
        <p:nvPicPr>
          <p:cNvPr id="1191802997" name="Picture 3" descr="A screenshot of a medical application&#10;&#10;AI-generated content may be incorrect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89259" y="1394353"/>
            <a:ext cx="3219915" cy="1873411"/>
          </a:xfrm>
          <a:prstGeom prst="rect">
            <a:avLst/>
          </a:prstGeom>
        </p:spPr>
      </p:pic>
      <p:sp>
        <p:nvSpPr>
          <p:cNvPr id="1105868414" name="TextBox 4"/>
          <p:cNvSpPr txBox="1"/>
          <p:nvPr/>
        </p:nvSpPr>
        <p:spPr bwMode="auto">
          <a:xfrm>
            <a:off x="6582963" y="3273844"/>
            <a:ext cx="320233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1400">
                <a:latin typeface="Trebuchet MS"/>
                <a:ea typeface="+mn-ea"/>
                <a:cs typeface="+mn-cs"/>
              </a:rPr>
              <a:t>2.</a:t>
            </a:r>
            <a:r>
              <a:rPr lang="en-US" sz="1400">
                <a:latin typeface="Trebuchet MS"/>
              </a:rPr>
              <a:t>Early</a:t>
            </a:r>
            <a:r>
              <a:rPr lang="en-US" sz="1400">
                <a:latin typeface="Trebuchet MS"/>
                <a:ea typeface="+mn-ea"/>
                <a:cs typeface="+mn-cs"/>
              </a:rPr>
              <a:t> ESRD Prediction (3-5 years before</a:t>
            </a:r>
            <a:r>
              <a:rPr lang="en-US" sz="1400">
                <a:latin typeface="Trebuchet MS"/>
              </a:rPr>
              <a:t>)</a:t>
            </a:r>
            <a:endParaRPr lang="en-US" sz="1400">
              <a:latin typeface="Trebuchet MS"/>
              <a:ea typeface="+mn-ea"/>
              <a:cs typeface="+mn-cs"/>
            </a:endParaRPr>
          </a:p>
        </p:txBody>
      </p:sp>
      <p:pic>
        <p:nvPicPr>
          <p:cNvPr id="942261428" name="Picture 5" descr="A doctor holding a model of a brain&#10;&#10;AI-generated content may be incorrect.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557118" y="3941652"/>
            <a:ext cx="3191148" cy="1852931"/>
          </a:xfrm>
          <a:prstGeom prst="rect">
            <a:avLst/>
          </a:prstGeom>
        </p:spPr>
      </p:pic>
      <p:sp>
        <p:nvSpPr>
          <p:cNvPr id="1806756434" name="TextBox 6"/>
          <p:cNvSpPr txBox="1"/>
          <p:nvPr/>
        </p:nvSpPr>
        <p:spPr bwMode="auto">
          <a:xfrm>
            <a:off x="2553320" y="5807734"/>
            <a:ext cx="292260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1400">
                <a:latin typeface="Trebuchet MS"/>
                <a:ea typeface="+mn-ea"/>
                <a:cs typeface="+mn-cs"/>
              </a:rPr>
              <a:t>3.10x productivity with AI</a:t>
            </a:r>
            <a:endParaRPr/>
          </a:p>
          <a:p>
            <a:pPr marL="0" algn="l" rtl="0">
              <a:defRPr/>
            </a:pPr>
            <a:r>
              <a:rPr lang="en-US" sz="1400">
                <a:latin typeface="Trebuchet MS"/>
                <a:ea typeface="+mn-ea"/>
                <a:cs typeface="+mn-cs"/>
              </a:rPr>
              <a:t>From 1850 </a:t>
            </a:r>
            <a:r>
              <a:rPr lang="en-US" sz="1400">
                <a:latin typeface="Trebuchet MS"/>
                <a:ea typeface="+mn-ea"/>
                <a:cs typeface="+mn-cs"/>
              </a:rPr>
              <a:t>tp</a:t>
            </a:r>
            <a:r>
              <a:rPr lang="en-US" sz="1400">
                <a:latin typeface="Trebuchet MS"/>
                <a:ea typeface="+mn-ea"/>
                <a:cs typeface="+mn-cs"/>
              </a:rPr>
              <a:t> 18500 virtual nephrologist</a:t>
            </a:r>
            <a:endParaRPr/>
          </a:p>
        </p:txBody>
      </p:sp>
      <p:pic>
        <p:nvPicPr>
          <p:cNvPr id="188407180" name="Picture 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99451" y="4073298"/>
            <a:ext cx="3307896" cy="1879146"/>
          </a:xfrm>
          <a:prstGeom prst="rect">
            <a:avLst/>
          </a:prstGeom>
        </p:spPr>
      </p:pic>
      <p:sp>
        <p:nvSpPr>
          <p:cNvPr id="2120766689" name="TextBox 8"/>
          <p:cNvSpPr txBox="1"/>
          <p:nvPr/>
        </p:nvSpPr>
        <p:spPr bwMode="auto">
          <a:xfrm>
            <a:off x="6498770" y="5965371"/>
            <a:ext cx="330925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0" algn="l" rtl="0">
              <a:defRPr/>
            </a:pPr>
            <a:r>
              <a:rPr lang="en-US" sz="1400">
                <a:solidFill>
                  <a:schemeClr val="tx1"/>
                </a:solidFill>
                <a:latin typeface="Trebuchet MS"/>
                <a:ea typeface="+mn-ea"/>
                <a:cs typeface="+mn-cs"/>
              </a:rPr>
              <a:t>4.Agent rejects traditional renal diet and give customized Indian diet</a:t>
            </a:r>
            <a:endParaRPr/>
          </a:p>
          <a:p>
            <a:pPr algn="ctr">
              <a:defRPr/>
            </a:pPr>
            <a:endParaRPr lang="en-US"/>
          </a:p>
        </p:txBody>
      </p:sp>
      <p:sp>
        <p:nvSpPr>
          <p:cNvPr id="958280729" name="Rectangle 9"/>
          <p:cNvSpPr/>
          <p:nvPr/>
        </p:nvSpPr>
        <p:spPr bwMode="auto">
          <a:xfrm>
            <a:off x="2481942" y="1404256"/>
            <a:ext cx="3279321" cy="23948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93732851" name="Rectangle 10"/>
          <p:cNvSpPr/>
          <p:nvPr/>
        </p:nvSpPr>
        <p:spPr bwMode="auto">
          <a:xfrm>
            <a:off x="2481941" y="4068534"/>
            <a:ext cx="3325587" cy="24765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1893098" name="Rectangle 11"/>
          <p:cNvSpPr/>
          <p:nvPr/>
        </p:nvSpPr>
        <p:spPr bwMode="auto">
          <a:xfrm>
            <a:off x="6490606" y="1398813"/>
            <a:ext cx="3429001" cy="23866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0663966" name="Rectangle 12"/>
          <p:cNvSpPr/>
          <p:nvPr/>
        </p:nvSpPr>
        <p:spPr bwMode="auto">
          <a:xfrm>
            <a:off x="6449784" y="4068535"/>
            <a:ext cx="3469821" cy="24901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8482662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7573431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979402860" name="Title 3"/>
          <p:cNvSpPr>
            <a:spLocks noGrp="1"/>
          </p:cNvSpPr>
          <p:nvPr>
            <p:ph type="title"/>
          </p:nvPr>
        </p:nvSpPr>
        <p:spPr bwMode="auto">
          <a:xfrm>
            <a:off x="660400" y="595870"/>
            <a:ext cx="6177280" cy="83099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/>
              <a:t>MODELLING</a:t>
            </a:r>
            <a:endParaRPr lang="en-IN"/>
          </a:p>
        </p:txBody>
      </p:sp>
      <p:sp>
        <p:nvSpPr>
          <p:cNvPr id="2089653449" name="TextBox 1"/>
          <p:cNvSpPr txBox="1"/>
          <p:nvPr/>
        </p:nvSpPr>
        <p:spPr bwMode="auto">
          <a:xfrm>
            <a:off x="409677" y="1431532"/>
            <a:ext cx="11374462" cy="5331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en-US" b="1"/>
              <a:t>Agent Design &amp; Workflow Creation (</a:t>
            </a:r>
            <a:r>
              <a:rPr lang="en-US" b="1"/>
              <a:t>Langflow</a:t>
            </a:r>
            <a:r>
              <a:rPr lang="en-US" b="1"/>
              <a:t>)</a:t>
            </a:r>
            <a:endParaRPr lang="en-US"/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   Visual, rule-driven workflows defining agent intelligence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Early Detection Agent</a:t>
            </a:r>
            <a:r>
              <a:rPr lang="en-US">
                <a:ea typeface="+mn-lt"/>
                <a:cs typeface="+mn-lt"/>
              </a:rPr>
              <a:t> – Monitors eGFR, proteinuria, BP, diabetes → triggers early risk alerts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Risk Stratification Agent</a:t>
            </a:r>
            <a:r>
              <a:rPr lang="en-US">
                <a:ea typeface="+mn-lt"/>
                <a:cs typeface="+mn-lt"/>
              </a:rPr>
              <a:t> – Classifies patients into Low / Moderate / High risk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RAG-Based CKD Stage Agent</a:t>
            </a:r>
            <a:r>
              <a:rPr lang="en-US">
                <a:ea typeface="+mn-lt"/>
                <a:cs typeface="+mn-lt"/>
              </a:rPr>
              <a:t> – Confirms CKD stage using evidence-based protocols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Virtual Nephrology Agent</a:t>
            </a:r>
            <a:r>
              <a:rPr lang="en-US">
                <a:ea typeface="+mn-lt"/>
                <a:cs typeface="+mn-lt"/>
              </a:rPr>
              <a:t> – 24×7 AI consultations using IBM Granite medical knowledge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Cardiovascular Protection Agent</a:t>
            </a:r>
            <a:r>
              <a:rPr lang="en-US">
                <a:ea typeface="+mn-lt"/>
                <a:cs typeface="+mn-lt"/>
              </a:rPr>
              <a:t> – Prevents heart complications via BP, glucose &amp; lipid tracking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Personalized Nutrition Agent</a:t>
            </a:r>
            <a:r>
              <a:rPr lang="en-US">
                <a:ea typeface="+mn-lt"/>
                <a:cs typeface="+mn-lt"/>
              </a:rPr>
              <a:t> – Generates kidney-friendly, Indian region-specific meal plans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endParaRPr lang="en-US"/>
          </a:p>
          <a:p>
            <a:pPr>
              <a:defRPr/>
            </a:pPr>
            <a:r>
              <a:rPr lang="en-US" b="1"/>
              <a:t>2.  Agent Orchestration &amp; Coordination (IBM </a:t>
            </a:r>
            <a:r>
              <a:rPr lang="en-US" b="1"/>
              <a:t>watsonx</a:t>
            </a:r>
            <a:r>
              <a:rPr lang="en-US" b="1"/>
              <a:t> Orchestrate)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Central brain managing all agents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Intelligent </a:t>
            </a:r>
            <a:r>
              <a:rPr lang="en-US" b="1">
                <a:ea typeface="+mn-lt"/>
                <a:cs typeface="+mn-lt"/>
              </a:rPr>
              <a:t>routing of patient data</a:t>
            </a:r>
            <a:r>
              <a:rPr lang="en-US">
                <a:ea typeface="+mn-lt"/>
                <a:cs typeface="+mn-lt"/>
              </a:rPr>
              <a:t> to relevant agents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Inter-agent communication</a:t>
            </a:r>
            <a:r>
              <a:rPr lang="en-US">
                <a:ea typeface="+mn-lt"/>
                <a:cs typeface="+mn-lt"/>
              </a:rPr>
              <a:t> (risk alerts → nephrology consult)</a:t>
            </a:r>
            <a:endParaRPr lang="en-US"/>
          </a:p>
          <a:p>
            <a:pPr lvl="1">
              <a:defRPr/>
            </a:pPr>
            <a:endParaRPr lang="en-US"/>
          </a:p>
          <a:p>
            <a:pPr>
              <a:defRPr/>
            </a:pPr>
            <a:r>
              <a:rPr lang="en-US" b="1"/>
              <a:t>3.  AI Intelligence Layer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/>
              <a:t>IBM Granite </a:t>
            </a:r>
            <a:r>
              <a:rPr lang="en-GB" b="1"/>
              <a:t>3-8b-instruct</a:t>
            </a:r>
            <a:r>
              <a:rPr lang="en-US" b="1"/>
              <a:t> (Foundation Model)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/>
              <a:t>IBM Watson Studio</a:t>
            </a:r>
            <a:endParaRPr lang="en-US"/>
          </a:p>
          <a:p>
            <a:pPr marL="800100" lvl="1" indent="-342900">
              <a:buFont typeface="Courier New"/>
              <a:buChar char="o"/>
              <a:defRPr/>
            </a:pPr>
            <a:r>
              <a:rPr lang="en-US" b="1"/>
              <a:t>AstraDB</a:t>
            </a:r>
            <a:r>
              <a:rPr lang="en-US" b="1"/>
              <a:t> (Vector Database)</a:t>
            </a:r>
            <a:endParaRPr lang="en-US"/>
          </a:p>
          <a:p>
            <a:pPr>
              <a:defRPr/>
            </a:pP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9794028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0214390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306509594" name="Title 3"/>
          <p:cNvSpPr>
            <a:spLocks noGrp="1"/>
          </p:cNvSpPr>
          <p:nvPr>
            <p:ph type="title"/>
          </p:nvPr>
        </p:nvSpPr>
        <p:spPr bwMode="auto">
          <a:xfrm>
            <a:off x="682899" y="492633"/>
            <a:ext cx="9578808" cy="121945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en-GB" sz="4000"/>
              <a:t>RESULTS</a:t>
            </a:r>
            <a:endParaRPr/>
          </a:p>
        </p:txBody>
      </p:sp>
      <p:sp>
        <p:nvSpPr>
          <p:cNvPr id="1269836563" name="Text Placeholder 30"/>
          <p:cNvSpPr txBox="1"/>
          <p:nvPr/>
        </p:nvSpPr>
        <p:spPr bwMode="auto"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10123540" name="Text Placeholder 30"/>
          <p:cNvSpPr txBox="1"/>
          <p:nvPr/>
        </p:nvSpPr>
        <p:spPr bwMode="auto"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313512644" name="Text Placeholder 1"/>
          <p:cNvSpPr>
            <a:spLocks noGrp="1"/>
          </p:cNvSpPr>
          <p:nvPr>
            <p:ph type="body" sz="quarter" idx="12"/>
          </p:nvPr>
        </p:nvSpPr>
        <p:spPr bwMode="auto">
          <a:xfrm>
            <a:off x="682900" y="2388190"/>
            <a:ext cx="6525974" cy="104081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IN"/>
              <a:t> </a:t>
            </a:r>
            <a:endParaRPr/>
          </a:p>
        </p:txBody>
      </p:sp>
      <p:sp>
        <p:nvSpPr>
          <p:cNvPr id="1803092037" name="TextBox 15"/>
          <p:cNvSpPr txBox="1"/>
          <p:nvPr/>
        </p:nvSpPr>
        <p:spPr bwMode="auto">
          <a:xfrm>
            <a:off x="682899" y="1227596"/>
            <a:ext cx="5079513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71742655" name="Picture 70389573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90625" y="2157108"/>
            <a:ext cx="9829800" cy="3457575"/>
          </a:xfrm>
          <a:prstGeom prst="rect">
            <a:avLst/>
          </a:prstGeom>
        </p:spPr>
      </p:pic>
      <p:sp>
        <p:nvSpPr>
          <p:cNvPr id="650199130" name="TextBox 1"/>
          <p:cNvSpPr txBox="1"/>
          <p:nvPr/>
        </p:nvSpPr>
        <p:spPr bwMode="auto">
          <a:xfrm>
            <a:off x="1089612" y="1627692"/>
            <a:ext cx="44660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/>
              <a:t>Workflow using </a:t>
            </a:r>
            <a:r>
              <a:rPr lang="en-US"/>
              <a:t>Langflow</a:t>
            </a:r>
            <a:r>
              <a:rPr lang="en-US"/>
              <a:t>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306509594" grpId="0"/>
      <p:bldP spid="1269836563" grpId="0"/>
      <p:bldP spid="110123540" grpId="0"/>
      <p:bldP spid="131351264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9473217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1150400549" name="Title 3"/>
          <p:cNvSpPr>
            <a:spLocks noGrp="1"/>
          </p:cNvSpPr>
          <p:nvPr>
            <p:ph type="title"/>
          </p:nvPr>
        </p:nvSpPr>
        <p:spPr bwMode="auto">
          <a:xfrm>
            <a:off x="682898" y="492633"/>
            <a:ext cx="9578807" cy="12194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4000"/>
              <a:t>OUTPUTS</a:t>
            </a:r>
            <a:br>
              <a:rPr lang="en-GB" sz="4000"/>
            </a:br>
            <a:r>
              <a:rPr lang="en-GB" sz="1800" b="1" i="0" u="none" strike="noStrike" cap="none" spc="0">
                <a:solidFill>
                  <a:schemeClr val="tx1"/>
                </a:solidFill>
                <a:latin typeface="Trebuchet MS"/>
                <a:ea typeface="Arial"/>
                <a:cs typeface="Arial"/>
              </a:rPr>
              <a:t>Multilingual Support </a:t>
            </a:r>
            <a:endParaRPr/>
          </a:p>
        </p:txBody>
      </p:sp>
      <p:sp>
        <p:nvSpPr>
          <p:cNvPr id="141271566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GB"/>
              <a:t> </a:t>
            </a:r>
            <a:endParaRPr/>
          </a:p>
        </p:txBody>
      </p:sp>
      <p:pic>
        <p:nvPicPr>
          <p:cNvPr id="128711587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808544" y="1944003"/>
            <a:ext cx="7958828" cy="38406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1504005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7151552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647666610" name="Title 3"/>
          <p:cNvSpPr>
            <a:spLocks noGrp="1"/>
          </p:cNvSpPr>
          <p:nvPr>
            <p:ph type="title"/>
          </p:nvPr>
        </p:nvSpPr>
        <p:spPr bwMode="auto">
          <a:xfrm>
            <a:off x="682898" y="492633"/>
            <a:ext cx="9578807" cy="12194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4000"/>
              <a:t>OUTPUTS</a:t>
            </a:r>
            <a:br>
              <a:rPr lang="en-GB" sz="4000"/>
            </a:br>
            <a:r>
              <a:rPr lang="en-GB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 1 : </a:t>
            </a:r>
            <a:r>
              <a:rPr lang="en-GB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Early Detection Agent</a:t>
            </a:r>
            <a:endParaRPr/>
          </a:p>
        </p:txBody>
      </p:sp>
      <p:sp>
        <p:nvSpPr>
          <p:cNvPr id="364166419" name="Text Placeholder 30"/>
          <p:cNvSpPr txBox="1"/>
          <p:nvPr/>
        </p:nvSpPr>
        <p:spPr bwMode="auto">
          <a:xfrm>
            <a:off x="4345693" y="1275370"/>
            <a:ext cx="3343560" cy="666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639279915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GB"/>
              <a:t> </a:t>
            </a:r>
            <a:endParaRPr/>
          </a:p>
        </p:txBody>
      </p:sp>
      <p:sp>
        <p:nvSpPr>
          <p:cNvPr id="1327815008" name="TextBox 1"/>
          <p:cNvSpPr txBox="1"/>
          <p:nvPr/>
        </p:nvSpPr>
        <p:spPr bwMode="auto">
          <a:xfrm flipH="0" flipV="0">
            <a:off x="1658104" y="2262780"/>
            <a:ext cx="1139864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INPUT</a:t>
            </a:r>
            <a:endParaRPr/>
          </a:p>
        </p:txBody>
      </p:sp>
      <p:sp>
        <p:nvSpPr>
          <p:cNvPr id="916603319" name="TextBox 1"/>
          <p:cNvSpPr txBox="1"/>
          <p:nvPr/>
        </p:nvSpPr>
        <p:spPr bwMode="auto">
          <a:xfrm flipH="0" flipV="0">
            <a:off x="7212350" y="1678579"/>
            <a:ext cx="1142383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OUTPUT</a:t>
            </a:r>
            <a:endParaRPr/>
          </a:p>
        </p:txBody>
      </p:sp>
      <p:pic>
        <p:nvPicPr>
          <p:cNvPr id="113393455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51887" y="2708255"/>
            <a:ext cx="3505592" cy="1116825"/>
          </a:xfrm>
          <a:prstGeom prst="rect">
            <a:avLst/>
          </a:prstGeom>
        </p:spPr>
      </p:pic>
      <p:pic>
        <p:nvPicPr>
          <p:cNvPr id="142456676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72302" y="2157894"/>
            <a:ext cx="4293512" cy="4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647666610" grpId="0"/>
      <p:bldP spid="3641664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1730700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835596643" name="Title 3"/>
          <p:cNvSpPr>
            <a:spLocks noGrp="1"/>
          </p:cNvSpPr>
          <p:nvPr>
            <p:ph type="title"/>
          </p:nvPr>
        </p:nvSpPr>
        <p:spPr bwMode="auto">
          <a:xfrm>
            <a:off x="682898" y="492633"/>
            <a:ext cx="9578807" cy="12194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4000"/>
              <a:t>OUTPUTS</a:t>
            </a:r>
            <a:br>
              <a:rPr lang="en-GB" sz="4000"/>
            </a:br>
            <a:r>
              <a:rPr lang="en-GB" sz="1800" b="1" i="0" u="none" strike="noStrike" cap="none" spc="0">
                <a:solidFill>
                  <a:schemeClr val="tx1"/>
                </a:solidFill>
                <a:latin typeface="Trebuchet MS"/>
                <a:ea typeface="Arial"/>
                <a:cs typeface="Arial"/>
              </a:rPr>
              <a:t>AGENT 2 : </a:t>
            </a:r>
            <a:r>
              <a:rPr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Risk Stratification Agent</a:t>
            </a:r>
            <a:endParaRPr sz="1800" b="1"/>
          </a:p>
        </p:txBody>
      </p:sp>
      <p:sp>
        <p:nvSpPr>
          <p:cNvPr id="812947127" name="Text Placeholder 30"/>
          <p:cNvSpPr txBox="1"/>
          <p:nvPr/>
        </p:nvSpPr>
        <p:spPr bwMode="auto">
          <a:xfrm>
            <a:off x="4345693" y="1275370"/>
            <a:ext cx="3343560" cy="666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312191920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GB"/>
              <a:t> </a:t>
            </a:r>
            <a:endParaRPr/>
          </a:p>
        </p:txBody>
      </p:sp>
      <p:sp>
        <p:nvSpPr>
          <p:cNvPr id="225149588" name="TextBox 1"/>
          <p:cNvSpPr txBox="1"/>
          <p:nvPr/>
        </p:nvSpPr>
        <p:spPr bwMode="auto">
          <a:xfrm flipH="0" flipV="0">
            <a:off x="1658104" y="2262780"/>
            <a:ext cx="1139864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INPUT</a:t>
            </a:r>
            <a:endParaRPr/>
          </a:p>
        </p:txBody>
      </p:sp>
      <p:sp>
        <p:nvSpPr>
          <p:cNvPr id="394023497" name="TextBox 1"/>
          <p:cNvSpPr txBox="1"/>
          <p:nvPr/>
        </p:nvSpPr>
        <p:spPr bwMode="auto">
          <a:xfrm flipH="0" flipV="0">
            <a:off x="7284692" y="2262780"/>
            <a:ext cx="1142383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OUTPUT</a:t>
            </a:r>
            <a:endParaRPr/>
          </a:p>
        </p:txBody>
      </p:sp>
      <p:pic>
        <p:nvPicPr>
          <p:cNvPr id="208560021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7699" y="2990126"/>
            <a:ext cx="3419474" cy="1133474"/>
          </a:xfrm>
          <a:prstGeom prst="rect">
            <a:avLst/>
          </a:prstGeom>
        </p:spPr>
      </p:pic>
      <p:pic>
        <p:nvPicPr>
          <p:cNvPr id="199380319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944082" y="2628900"/>
            <a:ext cx="3667124" cy="421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835596643" grpId="0"/>
      <p:bldP spid="8129471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3329085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157299171" name="Title 3"/>
          <p:cNvSpPr>
            <a:spLocks noGrp="1"/>
          </p:cNvSpPr>
          <p:nvPr>
            <p:ph type="title"/>
          </p:nvPr>
        </p:nvSpPr>
        <p:spPr bwMode="auto">
          <a:xfrm>
            <a:off x="682898" y="492633"/>
            <a:ext cx="9578807" cy="12194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4000"/>
              <a:t>OUTPUTS</a:t>
            </a:r>
            <a:br>
              <a:rPr lang="en-GB" sz="4000"/>
            </a:br>
            <a:r>
              <a:rPr lang="en-GB" sz="1800" b="1" i="0" u="none" strike="noStrike" cap="none" spc="0">
                <a:solidFill>
                  <a:schemeClr val="tx1"/>
                </a:solidFill>
                <a:latin typeface="Trebuchet MS"/>
                <a:ea typeface="Arial"/>
                <a:cs typeface="Arial"/>
              </a:rPr>
              <a:t>AGENT 3 : </a:t>
            </a:r>
            <a:r>
              <a:rPr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RAG Based CKD</a:t>
            </a:r>
            <a:r>
              <a:rPr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 Stage </a:t>
            </a:r>
            <a:r>
              <a:rPr lang="en-GB"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D</a:t>
            </a:r>
            <a:r>
              <a:rPr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etection Agent</a:t>
            </a:r>
            <a:endParaRPr sz="1800" b="1">
              <a:latin typeface="Trebuchet MS"/>
              <a:cs typeface="Trebuchet MS"/>
            </a:endParaRPr>
          </a:p>
        </p:txBody>
      </p:sp>
      <p:sp>
        <p:nvSpPr>
          <p:cNvPr id="242747386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GB"/>
              <a:t> </a:t>
            </a:r>
            <a:endParaRPr/>
          </a:p>
        </p:txBody>
      </p:sp>
      <p:sp>
        <p:nvSpPr>
          <p:cNvPr id="917814402" name="TextBox 1"/>
          <p:cNvSpPr txBox="1"/>
          <p:nvPr/>
        </p:nvSpPr>
        <p:spPr bwMode="auto">
          <a:xfrm flipH="0" flipV="0">
            <a:off x="1658104" y="2262780"/>
            <a:ext cx="1139864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INPUT</a:t>
            </a:r>
            <a:endParaRPr/>
          </a:p>
        </p:txBody>
      </p:sp>
      <p:sp>
        <p:nvSpPr>
          <p:cNvPr id="1953910910" name="TextBox 1"/>
          <p:cNvSpPr txBox="1"/>
          <p:nvPr/>
        </p:nvSpPr>
        <p:spPr bwMode="auto">
          <a:xfrm flipH="0" flipV="0">
            <a:off x="7284692" y="2262780"/>
            <a:ext cx="1142383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OUTPUT</a:t>
            </a:r>
            <a:endParaRPr/>
          </a:p>
        </p:txBody>
      </p:sp>
      <p:pic>
        <p:nvPicPr>
          <p:cNvPr id="195998130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0506" y="3124199"/>
            <a:ext cx="3886200" cy="1314450"/>
          </a:xfrm>
          <a:prstGeom prst="rect">
            <a:avLst/>
          </a:prstGeom>
        </p:spPr>
      </p:pic>
      <p:pic>
        <p:nvPicPr>
          <p:cNvPr id="136878429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83069" y="2568132"/>
            <a:ext cx="5495924" cy="4238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572991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1740341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1120311662" name="Title 3"/>
          <p:cNvSpPr>
            <a:spLocks noGrp="1"/>
          </p:cNvSpPr>
          <p:nvPr>
            <p:ph type="title"/>
          </p:nvPr>
        </p:nvSpPr>
        <p:spPr bwMode="auto">
          <a:xfrm>
            <a:off x="682898" y="492633"/>
            <a:ext cx="9578807" cy="12194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4000"/>
              <a:t>OUTPUTS</a:t>
            </a:r>
            <a:br>
              <a:rPr lang="en-GB" sz="4000"/>
            </a:br>
            <a:r>
              <a:rPr lang="en-GB" sz="1800" b="1" i="0" u="none" strike="noStrike" cap="none" spc="0">
                <a:solidFill>
                  <a:schemeClr val="tx1"/>
                </a:solidFill>
                <a:latin typeface="Trebuchet MS"/>
                <a:ea typeface="Arial"/>
                <a:cs typeface="Arial"/>
              </a:rPr>
              <a:t>AGENT 4 : </a:t>
            </a:r>
            <a:r>
              <a:rPr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Virtual Nephrology Agent</a:t>
            </a:r>
            <a:endParaRPr sz="1800" b="1">
              <a:latin typeface="Trebuchet MS"/>
              <a:cs typeface="Trebuchet MS"/>
            </a:endParaRPr>
          </a:p>
        </p:txBody>
      </p:sp>
      <p:sp>
        <p:nvSpPr>
          <p:cNvPr id="1943223279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GB"/>
              <a:t> </a:t>
            </a:r>
            <a:endParaRPr/>
          </a:p>
        </p:txBody>
      </p:sp>
      <p:sp>
        <p:nvSpPr>
          <p:cNvPr id="701248402" name="TextBox 1"/>
          <p:cNvSpPr txBox="1"/>
          <p:nvPr/>
        </p:nvSpPr>
        <p:spPr bwMode="auto">
          <a:xfrm flipH="0" flipV="0">
            <a:off x="1658104" y="2262780"/>
            <a:ext cx="1139864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INPUT</a:t>
            </a:r>
            <a:endParaRPr/>
          </a:p>
        </p:txBody>
      </p:sp>
      <p:sp>
        <p:nvSpPr>
          <p:cNvPr id="737800629" name="TextBox 1"/>
          <p:cNvSpPr txBox="1"/>
          <p:nvPr/>
        </p:nvSpPr>
        <p:spPr bwMode="auto">
          <a:xfrm flipH="0" flipV="0">
            <a:off x="7284692" y="2262780"/>
            <a:ext cx="1142383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OUTPUT</a:t>
            </a:r>
            <a:endParaRPr/>
          </a:p>
        </p:txBody>
      </p:sp>
      <p:pic>
        <p:nvPicPr>
          <p:cNvPr id="36412406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75411" y="2797215"/>
            <a:ext cx="3905249" cy="981074"/>
          </a:xfrm>
          <a:prstGeom prst="rect">
            <a:avLst/>
          </a:prstGeom>
        </p:spPr>
      </p:pic>
      <p:pic>
        <p:nvPicPr>
          <p:cNvPr id="143156536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51867" y="2797215"/>
            <a:ext cx="5734049" cy="3752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1203116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2338793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560937829" name="Title 3"/>
          <p:cNvSpPr>
            <a:spLocks noGrp="1"/>
          </p:cNvSpPr>
          <p:nvPr>
            <p:ph type="title"/>
          </p:nvPr>
        </p:nvSpPr>
        <p:spPr bwMode="auto">
          <a:xfrm>
            <a:off x="682898" y="492633"/>
            <a:ext cx="9578807" cy="12194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4000"/>
              <a:t>OUTPUTS</a:t>
            </a:r>
            <a:br>
              <a:rPr lang="en-GB" sz="4000"/>
            </a:br>
            <a:r>
              <a:rPr lang="en-GB" sz="1800" b="1" i="0" u="none" strike="noStrike" cap="none" spc="0">
                <a:solidFill>
                  <a:schemeClr val="tx1"/>
                </a:solidFill>
                <a:latin typeface="Trebuchet MS"/>
                <a:ea typeface="Arial"/>
                <a:cs typeface="Arial"/>
              </a:rPr>
              <a:t>AGENT 5 : </a:t>
            </a:r>
            <a:r>
              <a:rPr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Cardiovascular Protection Agent</a:t>
            </a:r>
            <a:endParaRPr sz="1800" b="1">
              <a:latin typeface="Trebuchet MS"/>
              <a:cs typeface="Trebuchet MS"/>
            </a:endParaRPr>
          </a:p>
        </p:txBody>
      </p:sp>
      <p:sp>
        <p:nvSpPr>
          <p:cNvPr id="268529309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GB"/>
              <a:t> </a:t>
            </a:r>
            <a:endParaRPr/>
          </a:p>
        </p:txBody>
      </p:sp>
      <p:sp>
        <p:nvSpPr>
          <p:cNvPr id="131142890" name="TextBox 1"/>
          <p:cNvSpPr txBox="1"/>
          <p:nvPr/>
        </p:nvSpPr>
        <p:spPr bwMode="auto">
          <a:xfrm flipH="0" flipV="0">
            <a:off x="1658104" y="2262780"/>
            <a:ext cx="1139864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INPUT</a:t>
            </a:r>
            <a:endParaRPr/>
          </a:p>
        </p:txBody>
      </p:sp>
      <p:sp>
        <p:nvSpPr>
          <p:cNvPr id="202899119" name="TextBox 1"/>
          <p:cNvSpPr txBox="1"/>
          <p:nvPr/>
        </p:nvSpPr>
        <p:spPr bwMode="auto">
          <a:xfrm flipH="0" flipV="0">
            <a:off x="5090325" y="2323064"/>
            <a:ext cx="1142383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OUTPUT</a:t>
            </a:r>
            <a:endParaRPr/>
          </a:p>
        </p:txBody>
      </p:sp>
      <p:pic>
        <p:nvPicPr>
          <p:cNvPr id="192125406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84949" y="2939256"/>
            <a:ext cx="3686175" cy="885825"/>
          </a:xfrm>
          <a:prstGeom prst="rect">
            <a:avLst/>
          </a:prstGeom>
        </p:spPr>
      </p:pic>
      <p:pic>
        <p:nvPicPr>
          <p:cNvPr id="119894487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643384" y="1448455"/>
            <a:ext cx="3618322" cy="2771481"/>
          </a:xfrm>
          <a:prstGeom prst="rect">
            <a:avLst/>
          </a:prstGeom>
        </p:spPr>
      </p:pic>
      <p:pic>
        <p:nvPicPr>
          <p:cNvPr id="175683295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643384" y="4172181"/>
            <a:ext cx="3618322" cy="2444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5609378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6195925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975523008" name="Title 3"/>
          <p:cNvSpPr>
            <a:spLocks noGrp="1"/>
          </p:cNvSpPr>
          <p:nvPr>
            <p:ph type="title"/>
          </p:nvPr>
        </p:nvSpPr>
        <p:spPr bwMode="auto">
          <a:xfrm>
            <a:off x="682898" y="492633"/>
            <a:ext cx="9578807" cy="12194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4000"/>
              <a:t>OUTPUTS</a:t>
            </a:r>
            <a:br>
              <a:rPr lang="en-GB" sz="4000"/>
            </a:br>
            <a:r>
              <a:rPr lang="en-GB" sz="1800" b="1" i="0" u="none" strike="noStrike" cap="none" spc="0">
                <a:solidFill>
                  <a:schemeClr val="tx1"/>
                </a:solidFill>
                <a:latin typeface="Trebuchet MS"/>
                <a:ea typeface="Arial"/>
                <a:cs typeface="Arial"/>
              </a:rPr>
              <a:t>AGENT 6 : </a:t>
            </a:r>
            <a:r>
              <a:rPr sz="1800" b="1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Personalized Nutrition Agent</a:t>
            </a:r>
            <a:endParaRPr sz="1800" b="1">
              <a:latin typeface="Trebuchet MS"/>
              <a:cs typeface="Trebuchet MS"/>
            </a:endParaRPr>
          </a:p>
        </p:txBody>
      </p:sp>
      <p:sp>
        <p:nvSpPr>
          <p:cNvPr id="1657563353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GB"/>
              <a:t> </a:t>
            </a:r>
            <a:endParaRPr/>
          </a:p>
        </p:txBody>
      </p:sp>
      <p:sp>
        <p:nvSpPr>
          <p:cNvPr id="737610666" name="TextBox 1"/>
          <p:cNvSpPr txBox="1"/>
          <p:nvPr/>
        </p:nvSpPr>
        <p:spPr bwMode="auto">
          <a:xfrm flipH="0" flipV="0">
            <a:off x="1658104" y="2262780"/>
            <a:ext cx="1139864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INPUT</a:t>
            </a:r>
            <a:endParaRPr/>
          </a:p>
        </p:txBody>
      </p:sp>
      <p:sp>
        <p:nvSpPr>
          <p:cNvPr id="1279379350" name="TextBox 1"/>
          <p:cNvSpPr txBox="1"/>
          <p:nvPr/>
        </p:nvSpPr>
        <p:spPr bwMode="auto">
          <a:xfrm flipH="0" flipV="0">
            <a:off x="7694628" y="2323064"/>
            <a:ext cx="1142383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OUTPUT</a:t>
            </a:r>
            <a:endParaRPr/>
          </a:p>
        </p:txBody>
      </p:sp>
      <p:pic>
        <p:nvPicPr>
          <p:cNvPr id="109030391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51586" y="3124199"/>
            <a:ext cx="4152899" cy="1104899"/>
          </a:xfrm>
          <a:prstGeom prst="rect">
            <a:avLst/>
          </a:prstGeom>
        </p:spPr>
      </p:pic>
      <p:pic>
        <p:nvPicPr>
          <p:cNvPr id="53504798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633637" y="2804793"/>
            <a:ext cx="3829050" cy="3667124"/>
          </a:xfrm>
          <a:prstGeom prst="rect">
            <a:avLst/>
          </a:prstGeom>
        </p:spPr>
      </p:pic>
      <p:pic>
        <p:nvPicPr>
          <p:cNvPr id="19569527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608670" y="2750183"/>
            <a:ext cx="3467099" cy="3914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97552300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4084981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6" y="6471918"/>
            <a:ext cx="2143125" cy="193039"/>
          </a:xfrm>
          <a:prstGeom prst="rect">
            <a:avLst/>
          </a:prstGeom>
        </p:spPr>
      </p:pic>
      <p:sp>
        <p:nvSpPr>
          <p:cNvPr id="300755700" name="Title 3"/>
          <p:cNvSpPr>
            <a:spLocks noGrp="1"/>
          </p:cNvSpPr>
          <p:nvPr>
            <p:ph type="title"/>
          </p:nvPr>
        </p:nvSpPr>
        <p:spPr bwMode="auto">
          <a:xfrm>
            <a:off x="682899" y="737048"/>
            <a:ext cx="9578808" cy="121945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en-IN" sz="4000"/>
              <a:t>RESULTS </a:t>
            </a:r>
            <a:r>
              <a:rPr lang="en-GB" sz="4000"/>
              <a:t> </a:t>
            </a:r>
            <a:endParaRPr lang="en-IN" sz="4000"/>
          </a:p>
        </p:txBody>
      </p:sp>
      <p:sp>
        <p:nvSpPr>
          <p:cNvPr id="1871715183" name="Text Placeholder 1"/>
          <p:cNvSpPr>
            <a:spLocks noGrp="1"/>
          </p:cNvSpPr>
          <p:nvPr>
            <p:ph type="body" sz="quarter" idx="12"/>
          </p:nvPr>
        </p:nvSpPr>
        <p:spPr bwMode="auto">
          <a:xfrm>
            <a:off x="861434" y="1717778"/>
            <a:ext cx="10479061" cy="381625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lnSpcReduction="10000"/>
          </a:bodyPr>
          <a:lstStyle/>
          <a:p>
            <a:pPr marL="0" indent="0">
              <a:buNone/>
              <a:defRPr/>
            </a:pPr>
            <a:r>
              <a:rPr lang="en-IN">
                <a:solidFill>
                  <a:schemeClr val="tx1"/>
                </a:solidFill>
              </a:rPr>
              <a:t>COMPONENTS USED:-</a:t>
            </a:r>
            <a:endParaRPr/>
          </a:p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Chat Input</a:t>
            </a:r>
            <a:endParaRPr/>
          </a:p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Chat Output</a:t>
            </a:r>
            <a:endParaRPr/>
          </a:p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IBM Watsonx.ai Agent</a:t>
            </a:r>
            <a:endParaRPr/>
          </a:p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File Component Prompt Component</a:t>
            </a:r>
            <a:endParaRPr/>
          </a:p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Model – IBM granite-3-8b</a:t>
            </a:r>
            <a:r>
              <a:rPr lang="en-GB">
                <a:solidFill>
                  <a:schemeClr val="tx1"/>
                </a:solidFill>
              </a:rPr>
              <a:t>-instruct</a:t>
            </a:r>
            <a:endParaRPr/>
          </a:p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Watson API key</a:t>
            </a:r>
            <a:endParaRPr/>
          </a:p>
          <a:p>
            <a:pPr>
              <a:defRPr/>
            </a:pPr>
            <a:r>
              <a:rPr lang="en-GB">
                <a:solidFill>
                  <a:schemeClr val="tx1"/>
                </a:solidFill>
              </a:rPr>
              <a:t>P</a:t>
            </a:r>
            <a:r>
              <a:rPr lang="en-IN">
                <a:solidFill>
                  <a:schemeClr val="tx1"/>
                </a:solidFill>
              </a:rPr>
              <a:t>roject id</a:t>
            </a:r>
            <a:endParaRPr/>
          </a:p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Watsonx</a:t>
            </a:r>
            <a:r>
              <a:rPr lang="en-IN">
                <a:solidFill>
                  <a:schemeClr val="tx1"/>
                </a:solidFill>
              </a:rPr>
              <a:t> Api endpoint</a:t>
            </a:r>
            <a:br>
              <a:rPr lang="en-IN">
                <a:solidFill>
                  <a:schemeClr val="tx1"/>
                </a:solidFill>
              </a:rPr>
            </a:br>
            <a:endParaRPr lang="en-IN">
              <a:solidFill>
                <a:schemeClr val="tx1"/>
              </a:solidFill>
            </a:endParaRPr>
          </a:p>
          <a:p>
            <a:pPr>
              <a:defRPr/>
            </a:pPr>
            <a:endParaRPr lang="en-IN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00755700" grpId="0"/>
      <p:bldP spid="187171518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6805540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267541480" name="Title 3"/>
          <p:cNvSpPr>
            <a:spLocks noGrp="1"/>
          </p:cNvSpPr>
          <p:nvPr>
            <p:ph type="title"/>
          </p:nvPr>
        </p:nvSpPr>
        <p:spPr bwMode="auto">
          <a:xfrm>
            <a:off x="682900" y="492634"/>
            <a:ext cx="5413100" cy="83099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4000"/>
              <a:t>FUTURE SCOPE  </a:t>
            </a:r>
            <a:endParaRPr lang="en-IN" sz="4000"/>
          </a:p>
        </p:txBody>
      </p:sp>
      <p:sp>
        <p:nvSpPr>
          <p:cNvPr id="948006893" name="Text Placeholder 30"/>
          <p:cNvSpPr txBox="1"/>
          <p:nvPr/>
        </p:nvSpPr>
        <p:spPr bwMode="auto"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45972979" name="Text Placeholder 30"/>
          <p:cNvSpPr txBox="1"/>
          <p:nvPr/>
        </p:nvSpPr>
        <p:spPr bwMode="auto"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60406704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IN"/>
              <a:t> </a:t>
            </a:r>
            <a:endParaRPr/>
          </a:p>
        </p:txBody>
      </p:sp>
      <p:sp>
        <p:nvSpPr>
          <p:cNvPr id="969042070" name="TextBox 1"/>
          <p:cNvSpPr txBox="1"/>
          <p:nvPr/>
        </p:nvSpPr>
        <p:spPr bwMode="auto">
          <a:xfrm>
            <a:off x="542776" y="2052038"/>
            <a:ext cx="451987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en-US" b="1"/>
              <a:t>Dialysis Optimization Agent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Automates </a:t>
            </a:r>
            <a:r>
              <a:rPr lang="en-US" b="1">
                <a:ea typeface="+mn-lt"/>
                <a:cs typeface="+mn-lt"/>
              </a:rPr>
              <a:t>dialysis appointment scheduling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Maximizes utilization of </a:t>
            </a:r>
            <a:r>
              <a:rPr lang="en-US" b="1">
                <a:ea typeface="+mn-lt"/>
                <a:cs typeface="+mn-lt"/>
              </a:rPr>
              <a:t>existing 5 dialysis machines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Reduces </a:t>
            </a:r>
            <a:r>
              <a:rPr lang="en-US" b="1">
                <a:ea typeface="+mn-lt"/>
                <a:cs typeface="+mn-lt"/>
              </a:rPr>
              <a:t>patient waiting time</a:t>
            </a:r>
            <a:r>
              <a:rPr lang="en-US">
                <a:ea typeface="+mn-lt"/>
                <a:cs typeface="+mn-lt"/>
              </a:rPr>
              <a:t> &amp; manual coordination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Intelligent </a:t>
            </a:r>
            <a:r>
              <a:rPr lang="en-US" b="1">
                <a:ea typeface="+mn-lt"/>
                <a:cs typeface="+mn-lt"/>
              </a:rPr>
              <a:t>slot allocation based on urgency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Future scale:</a:t>
            </a:r>
            <a:r>
              <a:rPr lang="en-US">
                <a:ea typeface="+mn-lt"/>
                <a:cs typeface="+mn-lt"/>
              </a:rPr>
              <a:t> 10 centers, </a:t>
            </a:r>
            <a:r>
              <a:rPr lang="en-US" b="1">
                <a:ea typeface="+mn-lt"/>
                <a:cs typeface="+mn-lt"/>
              </a:rPr>
              <a:t>300+ machines</a:t>
            </a:r>
            <a:endParaRPr lang="en-US"/>
          </a:p>
          <a:p>
            <a:pPr algn="l">
              <a:defRPr/>
            </a:pPr>
            <a:endParaRPr lang="en-US"/>
          </a:p>
        </p:txBody>
      </p:sp>
      <p:sp>
        <p:nvSpPr>
          <p:cNvPr id="1208353288" name="TextBox 2"/>
          <p:cNvSpPr txBox="1"/>
          <p:nvPr/>
        </p:nvSpPr>
        <p:spPr bwMode="auto">
          <a:xfrm>
            <a:off x="5748769" y="2051113"/>
            <a:ext cx="512521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/>
              <a:t>2. Financial Navigation Agent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Guides patients for </a:t>
            </a:r>
            <a:r>
              <a:rPr lang="en-US" b="1">
                <a:ea typeface="+mn-lt"/>
                <a:cs typeface="+mn-lt"/>
              </a:rPr>
              <a:t>PMJAY enrollment (₹5 lakh coverage)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Supports </a:t>
            </a:r>
            <a:r>
              <a:rPr lang="en-US" b="1">
                <a:ea typeface="+mn-lt"/>
                <a:cs typeface="+mn-lt"/>
              </a:rPr>
              <a:t>PMNDP &amp; state health  schemes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Connects patients to </a:t>
            </a:r>
            <a:r>
              <a:rPr lang="en-US" b="1">
                <a:ea typeface="+mn-lt"/>
                <a:cs typeface="+mn-lt"/>
              </a:rPr>
              <a:t>charitable dialysis assistance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 b="1">
                <a:ea typeface="+mn-lt"/>
                <a:cs typeface="+mn-lt"/>
              </a:rPr>
              <a:t>Multilingual, step-by-step guidance</a:t>
            </a:r>
            <a:endParaRPr lang="en-US"/>
          </a:p>
          <a:p>
            <a:pPr marL="742950" lvl="1" indent="-285750">
              <a:buFont typeface="Courier New"/>
              <a:buChar char="o"/>
              <a:defRPr/>
            </a:pPr>
            <a:r>
              <a:rPr lang="en-US">
                <a:ea typeface="+mn-lt"/>
                <a:cs typeface="+mn-lt"/>
              </a:rPr>
              <a:t>Reduces </a:t>
            </a:r>
            <a:r>
              <a:rPr lang="en-US" b="1">
                <a:ea typeface="+mn-lt"/>
                <a:cs typeface="+mn-lt"/>
              </a:rPr>
              <a:t>out-of-pocket medical expenses</a:t>
            </a:r>
            <a:endParaRPr lang="en-US"/>
          </a:p>
          <a:p>
            <a:pPr algn="l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267541480" grpId="0"/>
      <p:bldP spid="948006893" grpId="0"/>
      <p:bldP spid="459729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493027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2049355177" name="Title 3"/>
          <p:cNvSpPr>
            <a:spLocks noGrp="1"/>
          </p:cNvSpPr>
          <p:nvPr>
            <p:ph type="title"/>
          </p:nvPr>
        </p:nvSpPr>
        <p:spPr bwMode="auto">
          <a:xfrm>
            <a:off x="689843" y="743214"/>
            <a:ext cx="5037416" cy="83099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/>
              <a:t>GITHUB LINK </a:t>
            </a:r>
            <a:endParaRPr lang="en-IN"/>
          </a:p>
        </p:txBody>
      </p:sp>
      <p:sp>
        <p:nvSpPr>
          <p:cNvPr id="1507609972" name="Text Placeholder 30"/>
          <p:cNvSpPr txBox="1"/>
          <p:nvPr/>
        </p:nvSpPr>
        <p:spPr bwMode="auto"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115688514" name="Text Placeholder 30"/>
          <p:cNvSpPr txBox="1"/>
          <p:nvPr/>
        </p:nvSpPr>
        <p:spPr bwMode="auto"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547919084" name="Title 3"/>
          <p:cNvSpPr txBox="1"/>
          <p:nvPr/>
        </p:nvSpPr>
        <p:spPr bwMode="auto">
          <a:xfrm>
            <a:off x="422959" y="5737443"/>
            <a:ext cx="2981642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>
              <a:spcBef>
                <a:spcPts val="0"/>
              </a:spcBef>
              <a:buNone/>
              <a:defRPr sz="48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GB"/>
              <a:t> </a:t>
            </a:r>
            <a:r>
              <a:rPr lang="en-GB" sz="2000" b="0" u="sng">
                <a:solidFill>
                  <a:srgbClr val="0070C0"/>
                </a:solidFill>
                <a:hlinkClick r:id="rId4" action="ppaction://hlinkfile" tooltip=""/>
              </a:rPr>
              <a:t>Demo Link</a:t>
            </a:r>
            <a:endParaRPr lang="en-IN" b="0" u="sng">
              <a:solidFill>
                <a:srgbClr val="0070C0"/>
              </a:solidFill>
            </a:endParaRPr>
          </a:p>
        </p:txBody>
      </p:sp>
      <p:sp>
        <p:nvSpPr>
          <p:cNvPr id="708177978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IN"/>
              <a:t> </a:t>
            </a:r>
            <a:endParaRPr/>
          </a:p>
        </p:txBody>
      </p:sp>
      <p:pic>
        <p:nvPicPr>
          <p:cNvPr id="2013802914" name="Picture 6" descr="Github logo vector icon Stock Vector | Adobe Stock"/>
          <p:cNvPicPr>
            <a:picLocks noChangeAspect="1" noChangeArrowheads="1"/>
          </p:cNvPicPr>
          <p:nvPr/>
        </p:nvPicPr>
        <p:blipFill rotWithShape="1">
          <a:blip r:embed="rId5"/>
          <a:srcRect l="12222" t="13987" r="12221" b="12156"/>
          <a:stretch/>
        </p:blipFill>
        <p:spPr bwMode="auto">
          <a:xfrm>
            <a:off x="889089" y="2106368"/>
            <a:ext cx="652841" cy="63815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68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1156885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15688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15688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355177" grpId="0"/>
      <p:bldP spid="1507609972" grpId="0"/>
      <p:bldP spid="11156885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346901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>
              <a:defRPr/>
            </a:pPr>
            <a:r>
              <a:rPr lang="en-US" sz="4800" b="1">
                <a:solidFill>
                  <a:schemeClr val="tx1"/>
                </a:solidFill>
              </a:rPr>
              <a:t>MEET OUR TEAM</a:t>
            </a:r>
            <a:endParaRPr/>
          </a:p>
        </p:txBody>
      </p:sp>
      <p:sp>
        <p:nvSpPr>
          <p:cNvPr id="911047264" name="Text Placeholder 28"/>
          <p:cNvSpPr txBox="1"/>
          <p:nvPr/>
        </p:nvSpPr>
        <p:spPr bwMode="auto"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IN" sz="2200"/>
          </a:p>
        </p:txBody>
      </p:sp>
      <p:sp>
        <p:nvSpPr>
          <p:cNvPr id="1681133259" name="Text Placeholder 28"/>
          <p:cNvSpPr txBox="1"/>
          <p:nvPr/>
        </p:nvSpPr>
        <p:spPr bwMode="auto"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IN" sz="2200"/>
          </a:p>
        </p:txBody>
      </p:sp>
      <p:sp>
        <p:nvSpPr>
          <p:cNvPr id="639722085" name="Text Placeholder 30"/>
          <p:cNvSpPr txBox="1"/>
          <p:nvPr/>
        </p:nvSpPr>
        <p:spPr bwMode="auto">
          <a:xfrm>
            <a:off x="6096000" y="4641924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858519713" name="Text Placeholder 30"/>
          <p:cNvSpPr txBox="1"/>
          <p:nvPr/>
        </p:nvSpPr>
        <p:spPr bwMode="auto">
          <a:xfrm>
            <a:off x="8591363" y="4641924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/>
              <a:t>.</a:t>
            </a:r>
            <a:endParaRPr/>
          </a:p>
        </p:txBody>
      </p:sp>
      <p:pic>
        <p:nvPicPr>
          <p:cNvPr id="769206573" name="Picture 1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pic>
        <p:nvPicPr>
          <p:cNvPr id="1081359271" name="Picture Placeholder 21"/>
          <p:cNvPicPr>
            <a:picLocks noChangeAspect="1" noGrp="1"/>
          </p:cNvPicPr>
          <p:nvPr>
            <p:ph type="pic" sz="quarter" idx="21"/>
          </p:nvPr>
        </p:nvPicPr>
        <p:blipFill rotWithShape="1">
          <a:blip r:embed="rId4"/>
          <a:srcRect l="0" t="6776" r="0" b="6775"/>
          <a:stretch/>
        </p:blipFill>
        <p:spPr bwMode="auto"/>
      </p:pic>
      <p:pic>
        <p:nvPicPr>
          <p:cNvPr id="57290517" name="Picture Placeholder 26"/>
          <p:cNvPicPr>
            <a:picLocks noChangeAspect="1" noGrp="1"/>
          </p:cNvPicPr>
          <p:nvPr>
            <p:ph type="pic" sz="quarter" idx="22"/>
          </p:nvPr>
        </p:nvPicPr>
        <p:blipFill rotWithShape="1">
          <a:blip r:embed="rId5"/>
          <a:srcRect l="0" t="6518" r="0" b="6518"/>
          <a:stretch/>
        </p:blipFill>
        <p:spPr bwMode="auto"/>
      </p:pic>
      <p:sp>
        <p:nvSpPr>
          <p:cNvPr id="1831597079" name="Text Placeholder 11"/>
          <p:cNvSpPr>
            <a:spLocks noGrp="1"/>
          </p:cNvSpPr>
          <p:nvPr>
            <p:ph type="body" sz="quarter" idx="12"/>
          </p:nvPr>
        </p:nvSpPr>
        <p:spPr bwMode="auto">
          <a:xfrm>
            <a:off x="2819082" y="4072179"/>
            <a:ext cx="2139696" cy="34431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Aditya Raje</a:t>
            </a:r>
            <a:endParaRPr/>
          </a:p>
        </p:txBody>
      </p:sp>
      <p:sp>
        <p:nvSpPr>
          <p:cNvPr id="1385274697" name="Text Placeholder 11"/>
          <p:cNvSpPr txBox="1"/>
          <p:nvPr/>
        </p:nvSpPr>
        <p:spPr bwMode="auto">
          <a:xfrm>
            <a:off x="5093528" y="4072179"/>
            <a:ext cx="2139696" cy="3443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2000" b="1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>
                <a:solidFill>
                  <a:schemeClr val="tx1"/>
                </a:solidFill>
              </a:rPr>
              <a:t>Nida Pathan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751346901" grpId="0"/>
      <p:bldP spid="911047264" grpId="0"/>
      <p:bldP spid="1681133259" grpId="0"/>
      <p:bldP spid="639722085" grpId="0"/>
      <p:bldP spid="18585197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123974" name="Title 3"/>
          <p:cNvSpPr>
            <a:spLocks noGrp="1"/>
          </p:cNvSpPr>
          <p:nvPr>
            <p:ph type="title"/>
          </p:nvPr>
        </p:nvSpPr>
        <p:spPr bwMode="auto">
          <a:xfrm>
            <a:off x="681513" y="498269"/>
            <a:ext cx="4275138" cy="830997"/>
          </a:xfrm>
        </p:spPr>
        <p:txBody>
          <a:bodyPr/>
          <a:lstStyle/>
          <a:p>
            <a:pPr>
              <a:defRPr/>
            </a:pPr>
            <a:r>
              <a:rPr lang="en-GB"/>
              <a:t>CREDITS</a:t>
            </a:r>
            <a:endParaRPr lang="en-IN"/>
          </a:p>
        </p:txBody>
      </p:sp>
      <p:pic>
        <p:nvPicPr>
          <p:cNvPr id="1152585321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graphicFrame>
        <p:nvGraphicFramePr>
          <p:cNvPr id="466709187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600709" y="1705783"/>
          <a:ext cx="8711883" cy="249866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212357"/>
                <a:gridCol w="3786366"/>
                <a:gridCol w="2713160"/>
              </a:tblGrid>
              <a:tr h="2498663">
                <a:tc>
                  <a:txBody>
                    <a:bodyPr/>
                    <a:p>
                      <a:pPr algn="ctr">
                        <a:defRPr/>
                      </a:pPr>
                      <a:endParaRPr lang="en-US" sz="2000"/>
                    </a:p>
                    <a:p>
                      <a:pPr algn="ctr">
                        <a:defRPr/>
                      </a:pPr>
                      <a:endParaRPr lang="en-IN" sz="2000"/>
                    </a:p>
                    <a:p>
                      <a:pPr algn="ctr">
                        <a:defRPr/>
                      </a:pPr>
                      <a:endParaRPr lang="en-IN" sz="2000"/>
                    </a:p>
                    <a:p>
                      <a:pPr algn="ctr">
                        <a:defRPr/>
                      </a:pPr>
                      <a:endParaRPr lang="en-IN" sz="20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en-IN" sz="2000">
                          <a:solidFill>
                            <a:schemeClr val="tx1"/>
                          </a:solidFill>
                        </a:rPr>
                        <a:t>-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ctr" defTabSz="4572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20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defTabSz="4572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Mentor from </a:t>
                      </a: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Edunet</a:t>
                      </a: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 Foundation</a:t>
                      </a:r>
                      <a:endParaRPr/>
                    </a:p>
                    <a:p>
                      <a:pPr marL="0" marR="0" lvl="0" indent="0" algn="ctr" defTabSz="4572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200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1.Ms.Drishti </a:t>
                      </a: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Chakarvarty</a:t>
                      </a:r>
                      <a:br>
                        <a:rPr lang="en-IN" sz="2000">
                          <a:solidFill>
                            <a:srgbClr val="000000"/>
                          </a:solidFill>
                        </a:rPr>
                      </a:b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2.Mr.Aman </a:t>
                      </a: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Shrivastva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en-IN" sz="2000">
                        <a:solidFill>
                          <a:srgbClr val="000000"/>
                        </a:solidFill>
                      </a:endParaRPr>
                    </a:p>
                    <a:p>
                      <a:pPr algn="ctr">
                        <a:defRPr/>
                      </a:pPr>
                      <a:endParaRPr lang="en-IN" sz="2000">
                        <a:solidFill>
                          <a:srgbClr val="000000"/>
                        </a:solidFill>
                      </a:endParaRPr>
                    </a:p>
                    <a:p>
                      <a:pPr algn="ctr">
                        <a:defRPr/>
                      </a:pPr>
                      <a:endParaRPr lang="en-IN" sz="2000">
                        <a:solidFill>
                          <a:srgbClr val="000000"/>
                        </a:solidFill>
                      </a:endParaRPr>
                    </a:p>
                    <a:p>
                      <a:pPr algn="ctr">
                        <a:defRPr/>
                      </a:pPr>
                      <a:endParaRPr lang="en-IN" sz="2000">
                        <a:solidFill>
                          <a:srgbClr val="000000"/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en-IN" sz="20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IN" sz="20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41783556" name="Picture 4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9133840" y="2614055"/>
            <a:ext cx="2003210" cy="386678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29612397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0766158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583070961" name="Title 3"/>
          <p:cNvSpPr>
            <a:spLocks noGrp="1"/>
          </p:cNvSpPr>
          <p:nvPr>
            <p:ph type="title"/>
          </p:nvPr>
        </p:nvSpPr>
        <p:spPr bwMode="auto">
          <a:xfrm>
            <a:off x="682900" y="492634"/>
            <a:ext cx="3662794" cy="83099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RERFERNCES  </a:t>
            </a:r>
            <a:endParaRPr lang="en-IN"/>
          </a:p>
        </p:txBody>
      </p:sp>
      <p:sp>
        <p:nvSpPr>
          <p:cNvPr id="1020130914" name="Text Placeholder 30"/>
          <p:cNvSpPr txBox="1"/>
          <p:nvPr/>
        </p:nvSpPr>
        <p:spPr bwMode="auto"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222505107" name="Text Placeholder 30"/>
          <p:cNvSpPr txBox="1"/>
          <p:nvPr/>
        </p:nvSpPr>
        <p:spPr bwMode="auto"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091283144" name="Title 3"/>
          <p:cNvSpPr txBox="1"/>
          <p:nvPr/>
        </p:nvSpPr>
        <p:spPr bwMode="auto">
          <a:xfrm>
            <a:off x="422959" y="5737443"/>
            <a:ext cx="2981642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>
              <a:spcBef>
                <a:spcPts val="0"/>
              </a:spcBef>
              <a:buNone/>
              <a:defRPr sz="48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GB"/>
              <a:t> </a:t>
            </a:r>
            <a:endParaRPr lang="en-IN" b="0" u="sng">
              <a:solidFill>
                <a:srgbClr val="0070C0"/>
              </a:solidFill>
            </a:endParaRPr>
          </a:p>
        </p:txBody>
      </p:sp>
      <p:sp>
        <p:nvSpPr>
          <p:cNvPr id="1432250269" name="Text Placeholder 26"/>
          <p:cNvSpPr>
            <a:spLocks noGrp="1"/>
          </p:cNvSpPr>
          <p:nvPr>
            <p:ph type="body" sz="quarter" idx="12"/>
          </p:nvPr>
        </p:nvSpPr>
        <p:spPr bwMode="auto">
          <a:xfrm>
            <a:off x="660399" y="2044699"/>
            <a:ext cx="4275137" cy="3560762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>
            <a:pPr marL="0" indent="0">
              <a:buClr>
                <a:schemeClr val="accent4"/>
              </a:buClr>
              <a:buSzPct val="80000"/>
              <a:buFont typeface="Wingdings"/>
              <a:buNone/>
              <a:defRPr/>
            </a:pPr>
            <a:r>
              <a:rPr lang="en-IN"/>
              <a:t> </a:t>
            </a:r>
            <a:endParaRPr/>
          </a:p>
        </p:txBody>
      </p:sp>
      <p:sp>
        <p:nvSpPr>
          <p:cNvPr id="652709737" name="TextBox 1"/>
          <p:cNvSpPr txBox="1"/>
          <p:nvPr/>
        </p:nvSpPr>
        <p:spPr bwMode="auto">
          <a:xfrm>
            <a:off x="1328903" y="1797873"/>
            <a:ext cx="60323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 algn="l">
              <a:buFont typeface="Arial"/>
              <a:buChar char="•"/>
              <a:defRPr/>
            </a:pPr>
            <a:r>
              <a:rPr lang="en-US" u="sng">
                <a:ea typeface="+mn-lt"/>
                <a:cs typeface="+mn-lt"/>
                <a:hlinkClick r:id="rId4" tooltip=""/>
              </a:rPr>
              <a:t>epidemiology-of-chronic-kidney-disease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u="sng">
                <a:hlinkClick r:id="rId5" tooltip=""/>
              </a:rPr>
              <a:t>https://pmc.ncbi.nlm.nih.gov/articles/PMC9073222/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u="sng">
                <a:hlinkClick r:id="rId6" tooltip=""/>
              </a:rPr>
              <a:t>Research Paper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u="sng">
                <a:hlinkClick r:id="rId7" tooltip=""/>
              </a:rPr>
              <a:t>Prevalence of chronic kidney disease in India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u="sng">
                <a:hlinkClick r:id="rId8" tooltip=""/>
              </a:rPr>
              <a:t>The Indian Chronic Kidney Disease (ICKD) study: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u="sng">
                <a:hlinkClick r:id="rId9" tooltip=""/>
              </a:rPr>
              <a:t>national burden of chronic kidney disease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583070961" grpId="0"/>
      <p:bldP spid="1020130914" grpId="0"/>
      <p:bldP spid="22250510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1770703" name="Picture 4"/>
          <p:cNvPicPr>
            <a:picLocks noChangeAspect="1"/>
          </p:cNvPicPr>
          <p:nvPr/>
        </p:nvPicPr>
        <p:blipFill rotWithShape="1">
          <a:blip r:embed="rId3"/>
          <a:srcRect l="0" t="96181" r="0" b="0"/>
          <a:stretch/>
        </p:blipFill>
        <p:spPr bwMode="auto">
          <a:xfrm>
            <a:off x="675957" y="6471919"/>
            <a:ext cx="2143125" cy="193040"/>
          </a:xfrm>
          <a:prstGeom prst="rect">
            <a:avLst/>
          </a:prstGeom>
        </p:spPr>
      </p:pic>
      <p:sp>
        <p:nvSpPr>
          <p:cNvPr id="1655951654" name="Title 3"/>
          <p:cNvSpPr>
            <a:spLocks noGrp="1"/>
          </p:cNvSpPr>
          <p:nvPr>
            <p:ph type="title"/>
          </p:nvPr>
        </p:nvSpPr>
        <p:spPr bwMode="auto">
          <a:xfrm>
            <a:off x="1573205" y="1460673"/>
            <a:ext cx="3662794" cy="83099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/>
              <a:t>THANK YOU   </a:t>
            </a:r>
            <a:endParaRPr lang="en-IN"/>
          </a:p>
        </p:txBody>
      </p:sp>
      <p:sp>
        <p:nvSpPr>
          <p:cNvPr id="437595743" name="Text Placeholder 30"/>
          <p:cNvSpPr txBox="1"/>
          <p:nvPr/>
        </p:nvSpPr>
        <p:spPr bwMode="auto"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67703484" name="Text Placeholder 30"/>
          <p:cNvSpPr txBox="1"/>
          <p:nvPr/>
        </p:nvSpPr>
        <p:spPr bwMode="auto"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2000"/>
          </a:p>
        </p:txBody>
      </p:sp>
      <p:sp>
        <p:nvSpPr>
          <p:cNvPr id="121100664" name="Title 3"/>
          <p:cNvSpPr txBox="1"/>
          <p:nvPr/>
        </p:nvSpPr>
        <p:spPr bwMode="auto">
          <a:xfrm>
            <a:off x="422959" y="5737443"/>
            <a:ext cx="2981642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>
              <a:spcBef>
                <a:spcPts val="0"/>
              </a:spcBef>
              <a:buNone/>
              <a:defRPr sz="48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GB"/>
              <a:t> </a:t>
            </a:r>
            <a:endParaRPr lang="en-IN" b="0" u="sng">
              <a:solidFill>
                <a:srgbClr val="0070C0"/>
              </a:solidFill>
            </a:endParaRPr>
          </a:p>
        </p:txBody>
      </p:sp>
      <p:sp>
        <p:nvSpPr>
          <p:cNvPr id="1053401453" name="Text Placeholder 1"/>
          <p:cNvSpPr>
            <a:spLocks noGrp="1"/>
          </p:cNvSpPr>
          <p:nvPr>
            <p:ph type="body" sz="quarter" idx="12"/>
          </p:nvPr>
        </p:nvSpPr>
        <p:spPr bwMode="auto">
          <a:xfrm>
            <a:off x="682900" y="2388190"/>
            <a:ext cx="6525974" cy="104081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IN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655951654" grpId="0"/>
      <p:bldP spid="437595743" grpId="0"/>
      <p:bldP spid="67703484" grpId="0"/>
      <p:bldP spid="1053401453" grpId="0" build="p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Facet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_rels/item4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4.xml"/></Relationships>
</file>

<file path=customXml/_rels/item5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5.xml"/></Relationships>
</file>

<file path=customXml/_rels/item6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2001/XMLSchema-instanc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A6E5C4F-4072-4C3C-85F6-11231BB26953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2001/XMLSchema-instance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C6ACD53B-BD68-4766-95DD-26E05B3167A4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6.xml><?xml version="1.0" encoding="utf-8"?>
<ds:datastoreItem xmlns:ds="http://schemas.openxmlformats.org/officeDocument/2006/customXml" ds:itemID="{4BCAF3CF-292F-403B-AF67-1FB97DFD14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ONLYOFFICE/9.1.0.167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/>
  <cp:revision>280</cp:revision>
  <dcterms:created xsi:type="dcterms:W3CDTF">2021-07-11T13:13:15Z</dcterms:created>
  <dcterms:modified xsi:type="dcterms:W3CDTF">2026-01-01T11:08:10Z</dcterms:modified>
</cp:coreProperties>
</file>